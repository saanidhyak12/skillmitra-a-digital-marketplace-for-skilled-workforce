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embeddedFontLst>
    <p:embeddedFont>
      <p:font typeface="Georgia" panose="02040502050405020303" pitchFamily="18" charset="0"/>
      <p:regular r:id="rId14"/>
      <p:bold r:id="rId15"/>
      <p:italic r:id="rId16"/>
      <p:boldItalic r:id="rId17"/>
    </p:embeddedFont>
    <p:embeddedFont>
      <p:font typeface="Lucida Sans" panose="020B0602030504020204" pitchFamily="34" charset="0"/>
      <p:regular r:id="rId18"/>
      <p:bold r:id="rId19"/>
      <p:italic r:id="rId20"/>
      <p:boldItalic r:id="rId21"/>
    </p:embeddedFont>
    <p:embeddedFont>
      <p:font typeface="Quattrocento Sans" panose="020B0502050000020003" pitchFamily="34" charset="0"/>
      <p:regular r:id="rId22"/>
      <p:bold r:id="rId23"/>
      <p:italic r:id="rId24"/>
      <p:boldItalic r:id="rId25"/>
    </p:embeddedFont>
    <p:embeddedFont>
      <p:font typeface="Roboto" panose="02000000000000000000" pitchFamily="2" charset="0"/>
      <p:regular r:id="rId26"/>
      <p:bold r:id="rId27"/>
      <p:italic r:id="rId28"/>
      <p:boldItalic r:id="rId29"/>
    </p:embeddedFont>
    <p:embeddedFont>
      <p:font typeface="Tahoma" panose="020B0604030504040204" pitchFamily="34" charset="0"/>
      <p:regular r:id="rId30"/>
      <p:bold r:id="rId31"/>
    </p:embeddedFont>
    <p:embeddedFont>
      <p:font typeface="Trebuchet MS" panose="020B0603020202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E"/>
    <a:srgbClr val="E5ECFE"/>
    <a:srgbClr val="FDE2E4"/>
    <a:srgbClr val="FEE4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B8CC0-70B5-47AC-8B43-9C7E1B49E4FA}">
  <a:tblStyle styleId="{9B9B8CC0-70B5-47AC-8B43-9C7E1B49E4F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A4686C-9A57-4FCD-90C7-20B7E37845E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snapToGrid="0">
      <p:cViewPr varScale="1">
        <p:scale>
          <a:sx n="101" d="100"/>
          <a:sy n="101" d="100"/>
        </p:scale>
        <p:origin x="67" y="763"/>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tableStyles" Target="tableStyles.xml"/><Relationship Id="rId21" Type="http://schemas.openxmlformats.org/officeDocument/2006/relationships/font" Target="fonts/font8.fntdata"/><Relationship Id="rId34" Type="http://schemas.openxmlformats.org/officeDocument/2006/relationships/font" Target="fonts/font2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7" name="Google Shape;177;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body" idx="1"/>
          </p:nvPr>
        </p:nvSpPr>
        <p:spPr>
          <a:xfrm>
            <a:off x="2741079" y="1517291"/>
            <a:ext cx="2697479" cy="69405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309194" y="988819"/>
            <a:ext cx="2178050" cy="195008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100" b="1" i="0">
                <a:solidFill>
                  <a:srgbClr val="133768"/>
                </a:solidFill>
                <a:latin typeface="Tahoma"/>
                <a:ea typeface="Tahoma"/>
                <a:cs typeface="Tahoma"/>
                <a:sym typeface="Tahom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 name="Google Shape;22;p3"/>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0">
                <a:solidFill>
                  <a:srgbClr val="133768"/>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6"/>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5401932"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 name="Google Shape;7;p1"/>
          <p:cNvSpPr/>
          <p:nvPr/>
        </p:nvSpPr>
        <p:spPr>
          <a:xfrm>
            <a:off x="5399392" y="75145"/>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 name="Google Shape;8;p1"/>
          <p:cNvSpPr txBox="1">
            <a:spLocks noGrp="1"/>
          </p:cNvSpPr>
          <p:nvPr>
            <p:ph type="title"/>
          </p:nvPr>
        </p:nvSpPr>
        <p:spPr>
          <a:xfrm>
            <a:off x="347294" y="302841"/>
            <a:ext cx="3785870" cy="2444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400" b="1" i="0" u="none" strike="noStrike" cap="none">
                <a:solidFill>
                  <a:srgbClr val="133768"/>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2741079" y="1517291"/>
            <a:ext cx="2697479" cy="69405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95300" y="3133522"/>
            <a:ext cx="3115310" cy="10223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rgbClr val="133768"/>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37802" y="3133522"/>
            <a:ext cx="227329" cy="102235"/>
          </a:xfrm>
          <a:prstGeom prst="rect">
            <a:avLst/>
          </a:prstGeom>
          <a:noFill/>
          <a:ln>
            <a:noFill/>
          </a:ln>
        </p:spPr>
        <p:txBody>
          <a:bodyPr spcFirstLastPara="1" wrap="square" lIns="0" tIns="0" rIns="0" bIns="0" anchor="t" anchorCtr="0">
            <a:spAutoFit/>
          </a:bodyPr>
          <a:lstStyle>
            <a:lvl1pPr marL="12700" lvl="0" indent="0">
              <a:lnSpc>
                <a:spcPct val="112500"/>
              </a:lnSpc>
              <a:spcBef>
                <a:spcPts val="0"/>
              </a:spcBef>
              <a:buNone/>
              <a:defRPr sz="600" b="0" i="0">
                <a:solidFill>
                  <a:srgbClr val="0E294E"/>
                </a:solidFill>
                <a:latin typeface="Arial"/>
                <a:ea typeface="Arial"/>
                <a:cs typeface="Arial"/>
                <a:sym typeface="Arial"/>
              </a:defRPr>
            </a:lvl1pPr>
            <a:lvl2pPr marL="12700" lvl="1" indent="0">
              <a:lnSpc>
                <a:spcPct val="112500"/>
              </a:lnSpc>
              <a:spcBef>
                <a:spcPts val="0"/>
              </a:spcBef>
              <a:buNone/>
              <a:defRPr sz="600" b="0" i="0">
                <a:solidFill>
                  <a:srgbClr val="0E294E"/>
                </a:solidFill>
                <a:latin typeface="Arial"/>
                <a:ea typeface="Arial"/>
                <a:cs typeface="Arial"/>
                <a:sym typeface="Arial"/>
              </a:defRPr>
            </a:lvl2pPr>
            <a:lvl3pPr marL="12700" lvl="2" indent="0">
              <a:lnSpc>
                <a:spcPct val="112500"/>
              </a:lnSpc>
              <a:spcBef>
                <a:spcPts val="0"/>
              </a:spcBef>
              <a:buNone/>
              <a:defRPr sz="600" b="0" i="0">
                <a:solidFill>
                  <a:srgbClr val="0E294E"/>
                </a:solidFill>
                <a:latin typeface="Arial"/>
                <a:ea typeface="Arial"/>
                <a:cs typeface="Arial"/>
                <a:sym typeface="Arial"/>
              </a:defRPr>
            </a:lvl3pPr>
            <a:lvl4pPr marL="12700" lvl="3" indent="0">
              <a:lnSpc>
                <a:spcPct val="112500"/>
              </a:lnSpc>
              <a:spcBef>
                <a:spcPts val="0"/>
              </a:spcBef>
              <a:buNone/>
              <a:defRPr sz="600" b="0" i="0">
                <a:solidFill>
                  <a:srgbClr val="0E294E"/>
                </a:solidFill>
                <a:latin typeface="Arial"/>
                <a:ea typeface="Arial"/>
                <a:cs typeface="Arial"/>
                <a:sym typeface="Arial"/>
              </a:defRPr>
            </a:lvl4pPr>
            <a:lvl5pPr marL="12700" lvl="4" indent="0">
              <a:lnSpc>
                <a:spcPct val="112500"/>
              </a:lnSpc>
              <a:spcBef>
                <a:spcPts val="0"/>
              </a:spcBef>
              <a:buNone/>
              <a:defRPr sz="600" b="0" i="0">
                <a:solidFill>
                  <a:srgbClr val="0E294E"/>
                </a:solidFill>
                <a:latin typeface="Arial"/>
                <a:ea typeface="Arial"/>
                <a:cs typeface="Arial"/>
                <a:sym typeface="Arial"/>
              </a:defRPr>
            </a:lvl5pPr>
            <a:lvl6pPr marL="12700" lvl="5" indent="0">
              <a:lnSpc>
                <a:spcPct val="112500"/>
              </a:lnSpc>
              <a:spcBef>
                <a:spcPts val="0"/>
              </a:spcBef>
              <a:buNone/>
              <a:defRPr sz="600" b="0" i="0">
                <a:solidFill>
                  <a:srgbClr val="0E294E"/>
                </a:solidFill>
                <a:latin typeface="Arial"/>
                <a:ea typeface="Arial"/>
                <a:cs typeface="Arial"/>
                <a:sym typeface="Arial"/>
              </a:defRPr>
            </a:lvl6pPr>
            <a:lvl7pPr marL="12700" lvl="6" indent="0">
              <a:lnSpc>
                <a:spcPct val="112500"/>
              </a:lnSpc>
              <a:spcBef>
                <a:spcPts val="0"/>
              </a:spcBef>
              <a:buNone/>
              <a:defRPr sz="600" b="0" i="0">
                <a:solidFill>
                  <a:srgbClr val="0E294E"/>
                </a:solidFill>
                <a:latin typeface="Arial"/>
                <a:ea typeface="Arial"/>
                <a:cs typeface="Arial"/>
                <a:sym typeface="Arial"/>
              </a:defRPr>
            </a:lvl7pPr>
            <a:lvl8pPr marL="12700" lvl="7" indent="0">
              <a:lnSpc>
                <a:spcPct val="112500"/>
              </a:lnSpc>
              <a:spcBef>
                <a:spcPts val="0"/>
              </a:spcBef>
              <a:buNone/>
              <a:defRPr sz="600" b="0" i="0">
                <a:solidFill>
                  <a:srgbClr val="0E294E"/>
                </a:solidFill>
                <a:latin typeface="Arial"/>
                <a:ea typeface="Arial"/>
                <a:cs typeface="Arial"/>
                <a:sym typeface="Arial"/>
              </a:defRPr>
            </a:lvl8pPr>
            <a:lvl9pPr marL="12700" lvl="8" indent="0">
              <a:lnSpc>
                <a:spcPct val="112500"/>
              </a:lnSpc>
              <a:spcBef>
                <a:spcPts val="0"/>
              </a:spcBef>
              <a:buNone/>
              <a:defRPr sz="600" b="0" i="0">
                <a:solidFill>
                  <a:srgbClr val="0E294E"/>
                </a:solidFill>
                <a:latin typeface="Arial"/>
                <a:ea typeface="Arial"/>
                <a:cs typeface="Arial"/>
                <a:sym typeface="Arial"/>
              </a:defRPr>
            </a:lvl9pPr>
          </a:lstStyle>
          <a:p>
            <a:pPr marL="12700" lvl="0" indent="0" algn="l" rtl="0">
              <a:spcBef>
                <a:spcPts val="0"/>
              </a:spcBef>
              <a:spcAft>
                <a:spcPts val="0"/>
              </a:spcAft>
              <a:buNone/>
            </a:pPr>
            <a:fld id="{00000000-1234-1234-1234-123412341234}" type="slidenum">
              <a:rPr lang="en-US"/>
              <a:t>‹#›</a:t>
            </a:fld>
            <a:r>
              <a:rPr lang="en-US"/>
              <a:t>/10</a:t>
            </a:r>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mailto:24152627@geu.ac.in" TargetMode="External"/><Relationship Id="rId4" Type="http://schemas.openxmlformats.org/officeDocument/2006/relationships/hyperlink" Target="mailto:24152189@geu.ac.i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p:nvPr/>
        </p:nvSpPr>
        <p:spPr>
          <a:xfrm>
            <a:off x="-10" y="-19"/>
            <a:ext cx="5760085" cy="0"/>
          </a:xfrm>
          <a:custGeom>
            <a:avLst/>
            <a:gdLst/>
            <a:ahLst/>
            <a:cxnLst/>
            <a:rect l="l" t="t" r="r" b="b"/>
            <a:pathLst>
              <a:path w="5760085" h="120000" extrusionOk="0">
                <a:moveTo>
                  <a:pt x="0" y="0"/>
                </a:moveTo>
                <a:lnTo>
                  <a:pt x="5760073" y="0"/>
                </a:lnTo>
              </a:path>
            </a:pathLst>
          </a:custGeom>
          <a:noFill/>
          <a:ln w="37950"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 name="Google Shape;46;p7" descr="$PPTXTitle"/>
          <p:cNvSpPr txBox="1">
            <a:spLocks noGrp="1"/>
          </p:cNvSpPr>
          <p:nvPr>
            <p:ph type="title"/>
          </p:nvPr>
        </p:nvSpPr>
        <p:spPr>
          <a:xfrm>
            <a:off x="642378" y="819694"/>
            <a:ext cx="4474845" cy="4032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2450"/>
              <a:t>PROJECT-BASED LEARNING</a:t>
            </a:r>
            <a:endParaRPr sz="2450"/>
          </a:p>
        </p:txBody>
      </p:sp>
      <p:sp>
        <p:nvSpPr>
          <p:cNvPr id="47" name="Google Shape;47;p7"/>
          <p:cNvSpPr txBox="1"/>
          <p:nvPr/>
        </p:nvSpPr>
        <p:spPr>
          <a:xfrm>
            <a:off x="1835353" y="1195928"/>
            <a:ext cx="2089785" cy="1400368"/>
          </a:xfrm>
          <a:prstGeom prst="rect">
            <a:avLst/>
          </a:prstGeom>
          <a:noFill/>
          <a:ln>
            <a:noFill/>
          </a:ln>
        </p:spPr>
        <p:txBody>
          <a:bodyPr spcFirstLastPara="1" wrap="square" lIns="0" tIns="15225" rIns="0" bIns="0" anchor="t" anchorCtr="0">
            <a:spAutoFit/>
          </a:bodyPr>
          <a:lstStyle/>
          <a:p>
            <a:pPr marL="0" lvl="0" indent="0" algn="ctr" rtl="0">
              <a:lnSpc>
                <a:spcPct val="100000"/>
              </a:lnSpc>
              <a:spcBef>
                <a:spcPts val="0"/>
              </a:spcBef>
              <a:spcAft>
                <a:spcPts val="0"/>
              </a:spcAft>
              <a:buNone/>
            </a:pPr>
            <a:r>
              <a:rPr lang="en-US" sz="1700" dirty="0">
                <a:latin typeface="Trebuchet MS"/>
                <a:ea typeface="Trebuchet MS"/>
                <a:cs typeface="Trebuchet MS"/>
                <a:sym typeface="Trebuchet MS"/>
              </a:rPr>
              <a:t>PHASE-I EVALUATION</a:t>
            </a:r>
            <a:endParaRPr sz="1700" dirty="0">
              <a:latin typeface="Trebuchet MS"/>
              <a:ea typeface="Trebuchet MS"/>
              <a:cs typeface="Trebuchet MS"/>
              <a:sym typeface="Trebuchet MS"/>
            </a:endParaRPr>
          </a:p>
          <a:p>
            <a:pPr algn="ctr">
              <a:spcBef>
                <a:spcPts val="1600"/>
              </a:spcBef>
            </a:pPr>
            <a:r>
              <a:rPr lang="en-US" sz="1100" dirty="0" err="1">
                <a:solidFill>
                  <a:srgbClr val="133768"/>
                </a:solidFill>
                <a:latin typeface="Tahoma"/>
                <a:ea typeface="Tahoma"/>
                <a:cs typeface="Tahoma"/>
                <a:sym typeface="Tahoma"/>
              </a:rPr>
              <a:t>SkillMitra</a:t>
            </a:r>
            <a:endParaRPr lang="en-US" sz="1100" dirty="0">
              <a:solidFill>
                <a:srgbClr val="133768"/>
              </a:solidFill>
              <a:latin typeface="Tahoma"/>
              <a:ea typeface="Tahoma"/>
              <a:cs typeface="Tahoma"/>
              <a:sym typeface="Tahoma"/>
            </a:endParaRPr>
          </a:p>
          <a:p>
            <a:pPr algn="ctr">
              <a:spcBef>
                <a:spcPts val="1600"/>
              </a:spcBef>
            </a:pPr>
            <a:r>
              <a:rPr lang="en-US" sz="1100" dirty="0">
                <a:solidFill>
                  <a:srgbClr val="133768"/>
                </a:solidFill>
                <a:latin typeface="Tahoma"/>
                <a:ea typeface="Tahoma"/>
                <a:cs typeface="Tahoma"/>
                <a:sym typeface="Tahoma"/>
              </a:rPr>
              <a:t>Team ID: </a:t>
            </a:r>
            <a:r>
              <a:rPr lang="en-US" sz="1100" b="1" dirty="0">
                <a:effectLst/>
                <a:latin typeface="Arial" panose="020B0604020202020204" pitchFamily="34" charset="0"/>
                <a:ea typeface="Georgia" panose="02040502050405020303" pitchFamily="18" charset="0"/>
                <a:cs typeface="Georgia" panose="02040502050405020303" pitchFamily="18" charset="0"/>
              </a:rPr>
              <a:t>BCA IJP-V-2026-T040</a:t>
            </a:r>
            <a:endParaRPr lang="en-IN" sz="1800" dirty="0">
              <a:effectLst/>
              <a:latin typeface="Georgia" panose="02040502050405020303" pitchFamily="18" charset="0"/>
              <a:ea typeface="Georgia" panose="02040502050405020303" pitchFamily="18" charset="0"/>
              <a:cs typeface="Georgia" panose="02040502050405020303" pitchFamily="18" charset="0"/>
            </a:endParaRPr>
          </a:p>
          <a:p>
            <a:pPr marL="0" lvl="0" indent="0" algn="ctr" rtl="0">
              <a:lnSpc>
                <a:spcPct val="100000"/>
              </a:lnSpc>
              <a:spcBef>
                <a:spcPts val="1600"/>
              </a:spcBef>
              <a:spcAft>
                <a:spcPts val="0"/>
              </a:spcAft>
              <a:buNone/>
            </a:pPr>
            <a:endParaRPr sz="1100" dirty="0">
              <a:latin typeface="Tahoma"/>
              <a:ea typeface="Tahoma"/>
              <a:cs typeface="Tahoma"/>
              <a:sym typeface="Tahoma"/>
            </a:endParaRPr>
          </a:p>
        </p:txBody>
      </p:sp>
      <p:sp>
        <p:nvSpPr>
          <p:cNvPr id="48" name="Google Shape;48;p7"/>
          <p:cNvSpPr txBox="1"/>
          <p:nvPr/>
        </p:nvSpPr>
        <p:spPr>
          <a:xfrm>
            <a:off x="1321257" y="2580702"/>
            <a:ext cx="3117215" cy="486025"/>
          </a:xfrm>
          <a:prstGeom prst="rect">
            <a:avLst/>
          </a:prstGeom>
          <a:noFill/>
          <a:ln>
            <a:noFill/>
          </a:ln>
        </p:spPr>
        <p:txBody>
          <a:bodyPr spcFirstLastPara="1" wrap="square" lIns="0" tIns="11425" rIns="0" bIns="0" anchor="t" anchorCtr="0">
            <a:spAutoFit/>
          </a:bodyPr>
          <a:lstStyle/>
          <a:p>
            <a:pPr marL="0" lvl="0" indent="0" algn="ctr" rtl="0">
              <a:lnSpc>
                <a:spcPct val="100000"/>
              </a:lnSpc>
              <a:spcBef>
                <a:spcPts val="0"/>
              </a:spcBef>
              <a:spcAft>
                <a:spcPts val="0"/>
              </a:spcAft>
              <a:buNone/>
            </a:pPr>
            <a:r>
              <a:rPr lang="en-US" sz="1100" b="1" dirty="0">
                <a:latin typeface="Tahoma"/>
                <a:ea typeface="Tahoma"/>
                <a:cs typeface="Tahoma"/>
                <a:sym typeface="Tahoma"/>
              </a:rPr>
              <a:t>Department of Computer Applications </a:t>
            </a:r>
            <a:endParaRPr sz="1100" dirty="0">
              <a:latin typeface="Tahoma"/>
              <a:ea typeface="Tahoma"/>
              <a:cs typeface="Tahoma"/>
              <a:sym typeface="Tahoma"/>
            </a:endParaRPr>
          </a:p>
          <a:p>
            <a:pPr marL="0" lvl="0" indent="0" algn="ctr" rtl="0">
              <a:lnSpc>
                <a:spcPct val="100000"/>
              </a:lnSpc>
              <a:spcBef>
                <a:spcPts val="35"/>
              </a:spcBef>
              <a:spcAft>
                <a:spcPts val="0"/>
              </a:spcAft>
              <a:buNone/>
            </a:pPr>
            <a:r>
              <a:rPr lang="en-US" sz="1100" dirty="0">
                <a:latin typeface="Tahoma"/>
                <a:ea typeface="Tahoma"/>
                <a:cs typeface="Tahoma"/>
                <a:sym typeface="Tahoma"/>
              </a:rPr>
              <a:t>Graphic Era (Deemed to be University), Dehradun</a:t>
            </a:r>
            <a:endParaRPr sz="1100" dirty="0">
              <a:latin typeface="Tahoma"/>
              <a:ea typeface="Tahoma"/>
              <a:cs typeface="Tahoma"/>
              <a:sym typeface="Tahoma"/>
            </a:endParaRPr>
          </a:p>
          <a:p>
            <a:pPr marL="0" lvl="0" indent="0" algn="ctr" rtl="0">
              <a:lnSpc>
                <a:spcPct val="100000"/>
              </a:lnSpc>
              <a:spcBef>
                <a:spcPts val="50"/>
              </a:spcBef>
              <a:spcAft>
                <a:spcPts val="0"/>
              </a:spcAft>
              <a:buNone/>
            </a:pPr>
            <a:r>
              <a:rPr lang="en-US" sz="800" dirty="0">
                <a:latin typeface="Arial"/>
                <a:ea typeface="Arial"/>
                <a:cs typeface="Arial"/>
                <a:sym typeface="Arial"/>
              </a:rPr>
              <a:t>Academic Session 2026–27</a:t>
            </a:r>
            <a:endParaRPr sz="800" dirty="0">
              <a:latin typeface="Arial"/>
              <a:ea typeface="Arial"/>
              <a:cs typeface="Arial"/>
              <a:sym typeface="Arial"/>
            </a:endParaRPr>
          </a:p>
        </p:txBody>
      </p:sp>
      <p:pic>
        <p:nvPicPr>
          <p:cNvPr id="49" name="Google Shape;49;p7"/>
          <p:cNvPicPr preferRelativeResize="0"/>
          <p:nvPr/>
        </p:nvPicPr>
        <p:blipFill rotWithShape="1">
          <a:blip r:embed="rId3">
            <a:alphaModFix/>
          </a:blip>
          <a:srcRect/>
          <a:stretch/>
        </p:blipFill>
        <p:spPr>
          <a:xfrm>
            <a:off x="5022273" y="174624"/>
            <a:ext cx="582873" cy="559663"/>
          </a:xfrm>
          <a:prstGeom prst="rect">
            <a:avLst/>
          </a:prstGeom>
          <a:noFill/>
          <a:ln>
            <a:noFill/>
          </a:ln>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pSp>
        <p:nvGrpSpPr>
          <p:cNvPr id="54" name="Google Shape;54;p8"/>
          <p:cNvGrpSpPr/>
          <p:nvPr/>
        </p:nvGrpSpPr>
        <p:grpSpPr>
          <a:xfrm>
            <a:off x="5399392" y="72605"/>
            <a:ext cx="223520" cy="223520"/>
            <a:chOff x="5399392" y="72605"/>
            <a:chExt cx="223520" cy="223520"/>
          </a:xfrm>
        </p:grpSpPr>
        <p:sp>
          <p:nvSpPr>
            <p:cNvPr id="55" name="Google Shape;55;p8"/>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 name="Google Shape;56;p8"/>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7" name="Google Shape;57;p8"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Team &amp; Mentor Details</a:t>
            </a:r>
            <a:endParaRPr/>
          </a:p>
        </p:txBody>
      </p:sp>
      <p:sp>
        <p:nvSpPr>
          <p:cNvPr id="58" name="Google Shape;58;p8"/>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1" name="Google Shape;61;p8"/>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62" name="Google Shape;62;p8"/>
          <p:cNvSpPr/>
          <p:nvPr/>
        </p:nvSpPr>
        <p:spPr>
          <a:xfrm>
            <a:off x="546138" y="2464619"/>
            <a:ext cx="4667726" cy="290798"/>
          </a:xfrm>
          <a:custGeom>
            <a:avLst/>
            <a:gdLst/>
            <a:ahLst/>
            <a:cxnLst/>
            <a:rect l="l" t="t" r="r" b="b"/>
            <a:pathLst>
              <a:path w="11315700" h="409575" extrusionOk="0">
                <a:moveTo>
                  <a:pt x="11208903" y="409574"/>
                </a:moveTo>
                <a:lnTo>
                  <a:pt x="106794" y="409574"/>
                </a:lnTo>
                <a:lnTo>
                  <a:pt x="99362" y="408842"/>
                </a:lnTo>
                <a:lnTo>
                  <a:pt x="57038" y="394479"/>
                </a:lnTo>
                <a:lnTo>
                  <a:pt x="23432" y="365016"/>
                </a:lnTo>
                <a:lnTo>
                  <a:pt x="3660" y="324933"/>
                </a:lnTo>
                <a:lnTo>
                  <a:pt x="0" y="302780"/>
                </a:lnTo>
                <a:lnTo>
                  <a:pt x="0" y="295274"/>
                </a:lnTo>
                <a:lnTo>
                  <a:pt x="0" y="106794"/>
                </a:lnTo>
                <a:lnTo>
                  <a:pt x="11572" y="63625"/>
                </a:lnTo>
                <a:lnTo>
                  <a:pt x="38784" y="28170"/>
                </a:lnTo>
                <a:lnTo>
                  <a:pt x="77493" y="5827"/>
                </a:lnTo>
                <a:lnTo>
                  <a:pt x="106794" y="0"/>
                </a:lnTo>
                <a:lnTo>
                  <a:pt x="11208903" y="0"/>
                </a:lnTo>
                <a:lnTo>
                  <a:pt x="11252072" y="11571"/>
                </a:lnTo>
                <a:lnTo>
                  <a:pt x="11287527" y="38783"/>
                </a:lnTo>
                <a:lnTo>
                  <a:pt x="11309870" y="77491"/>
                </a:lnTo>
                <a:lnTo>
                  <a:pt x="11315699" y="106794"/>
                </a:lnTo>
                <a:lnTo>
                  <a:pt x="11315699" y="302780"/>
                </a:lnTo>
                <a:lnTo>
                  <a:pt x="11304125" y="345947"/>
                </a:lnTo>
                <a:lnTo>
                  <a:pt x="11276913" y="381403"/>
                </a:lnTo>
                <a:lnTo>
                  <a:pt x="11238205" y="403746"/>
                </a:lnTo>
                <a:lnTo>
                  <a:pt x="11216336" y="408842"/>
                </a:lnTo>
                <a:lnTo>
                  <a:pt x="11208903" y="40957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79"/>
          </a:p>
        </p:txBody>
      </p:sp>
      <p:sp>
        <p:nvSpPr>
          <p:cNvPr id="63" name="Google Shape;63;p8"/>
          <p:cNvSpPr/>
          <p:nvPr/>
        </p:nvSpPr>
        <p:spPr>
          <a:xfrm>
            <a:off x="542925" y="933450"/>
            <a:ext cx="2133695" cy="1398984"/>
          </a:xfrm>
          <a:custGeom>
            <a:avLst/>
            <a:gdLst/>
            <a:ahLst/>
            <a:cxnLst/>
            <a:rect l="l" t="t" r="r" b="b"/>
            <a:pathLst>
              <a:path w="4991100" h="4476750" extrusionOk="0">
                <a:moveTo>
                  <a:pt x="4884304" y="4476749"/>
                </a:moveTo>
                <a:lnTo>
                  <a:pt x="106794" y="4476749"/>
                </a:lnTo>
                <a:lnTo>
                  <a:pt x="99362" y="4476016"/>
                </a:lnTo>
                <a:lnTo>
                  <a:pt x="57038" y="4461653"/>
                </a:lnTo>
                <a:lnTo>
                  <a:pt x="23432" y="4432189"/>
                </a:lnTo>
                <a:lnTo>
                  <a:pt x="3660" y="4392107"/>
                </a:lnTo>
                <a:lnTo>
                  <a:pt x="0" y="4369953"/>
                </a:lnTo>
                <a:lnTo>
                  <a:pt x="0" y="4362449"/>
                </a:lnTo>
                <a:lnTo>
                  <a:pt x="0" y="106794"/>
                </a:lnTo>
                <a:lnTo>
                  <a:pt x="11572" y="63624"/>
                </a:lnTo>
                <a:lnTo>
                  <a:pt x="38784" y="28169"/>
                </a:lnTo>
                <a:lnTo>
                  <a:pt x="77493" y="5827"/>
                </a:lnTo>
                <a:lnTo>
                  <a:pt x="106794" y="0"/>
                </a:lnTo>
                <a:lnTo>
                  <a:pt x="4884304" y="0"/>
                </a:lnTo>
                <a:lnTo>
                  <a:pt x="4927473" y="11570"/>
                </a:lnTo>
                <a:lnTo>
                  <a:pt x="4962928" y="38783"/>
                </a:lnTo>
                <a:lnTo>
                  <a:pt x="4985270" y="77491"/>
                </a:lnTo>
                <a:lnTo>
                  <a:pt x="4991099" y="106794"/>
                </a:lnTo>
                <a:lnTo>
                  <a:pt x="4991099" y="4369953"/>
                </a:lnTo>
                <a:lnTo>
                  <a:pt x="4979526" y="4413121"/>
                </a:lnTo>
                <a:lnTo>
                  <a:pt x="4952314" y="4448576"/>
                </a:lnTo>
                <a:lnTo>
                  <a:pt x="4913606" y="4470919"/>
                </a:lnTo>
                <a:lnTo>
                  <a:pt x="4891737" y="4476016"/>
                </a:lnTo>
                <a:lnTo>
                  <a:pt x="4884304"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97"/>
          </a:p>
        </p:txBody>
      </p:sp>
      <p:sp>
        <p:nvSpPr>
          <p:cNvPr id="64" name="Google Shape;64;p8"/>
          <p:cNvSpPr txBox="1"/>
          <p:nvPr/>
        </p:nvSpPr>
        <p:spPr>
          <a:xfrm>
            <a:off x="610564" y="978768"/>
            <a:ext cx="641700" cy="137700"/>
          </a:xfrm>
          <a:prstGeom prst="rect">
            <a:avLst/>
          </a:prstGeom>
          <a:noFill/>
          <a:ln>
            <a:noFill/>
          </a:ln>
        </p:spPr>
        <p:txBody>
          <a:bodyPr spcFirstLastPara="1" wrap="square" lIns="0" tIns="7300" rIns="0" bIns="0" anchor="t" anchorCtr="0">
            <a:spAutoFit/>
          </a:bodyPr>
          <a:lstStyle/>
          <a:p>
            <a:pPr marL="5411" lvl="0" indent="0" algn="l" rtl="0">
              <a:lnSpc>
                <a:spcPct val="100000"/>
              </a:lnSpc>
              <a:spcBef>
                <a:spcPts val="0"/>
              </a:spcBef>
              <a:spcAft>
                <a:spcPts val="0"/>
              </a:spcAft>
              <a:buNone/>
            </a:pPr>
            <a:r>
              <a:rPr lang="en-US" sz="847" b="1">
                <a:solidFill>
                  <a:srgbClr val="1F3764"/>
                </a:solidFill>
                <a:latin typeface="Tahoma"/>
                <a:ea typeface="Tahoma"/>
                <a:cs typeface="Tahoma"/>
                <a:sym typeface="Tahoma"/>
              </a:rPr>
              <a:t>TEAM </a:t>
            </a:r>
            <a:endParaRPr sz="847">
              <a:latin typeface="Tahoma"/>
              <a:ea typeface="Tahoma"/>
              <a:cs typeface="Tahoma"/>
              <a:sym typeface="Tahoma"/>
            </a:endParaRPr>
          </a:p>
        </p:txBody>
      </p:sp>
      <p:sp>
        <p:nvSpPr>
          <p:cNvPr id="65" name="Google Shape;65;p8"/>
          <p:cNvSpPr/>
          <p:nvPr/>
        </p:nvSpPr>
        <p:spPr>
          <a:xfrm>
            <a:off x="2678900" y="933450"/>
            <a:ext cx="2538174" cy="1398984"/>
          </a:xfrm>
          <a:custGeom>
            <a:avLst/>
            <a:gdLst/>
            <a:ahLst/>
            <a:cxnLst/>
            <a:rect l="l" t="t" r="r" b="b"/>
            <a:pathLst>
              <a:path w="6153150" h="4476750" extrusionOk="0">
                <a:moveTo>
                  <a:pt x="6046353" y="4476749"/>
                </a:moveTo>
                <a:lnTo>
                  <a:pt x="106795" y="4476749"/>
                </a:lnTo>
                <a:lnTo>
                  <a:pt x="99361" y="4476016"/>
                </a:lnTo>
                <a:lnTo>
                  <a:pt x="57038" y="4461653"/>
                </a:lnTo>
                <a:lnTo>
                  <a:pt x="23432" y="4432189"/>
                </a:lnTo>
                <a:lnTo>
                  <a:pt x="3660" y="4392107"/>
                </a:lnTo>
                <a:lnTo>
                  <a:pt x="0" y="4369953"/>
                </a:lnTo>
                <a:lnTo>
                  <a:pt x="0" y="4362449"/>
                </a:lnTo>
                <a:lnTo>
                  <a:pt x="0" y="106794"/>
                </a:lnTo>
                <a:lnTo>
                  <a:pt x="11572" y="63624"/>
                </a:lnTo>
                <a:lnTo>
                  <a:pt x="38784" y="28169"/>
                </a:lnTo>
                <a:lnTo>
                  <a:pt x="77492" y="5827"/>
                </a:lnTo>
                <a:lnTo>
                  <a:pt x="106795" y="0"/>
                </a:lnTo>
                <a:lnTo>
                  <a:pt x="6046353" y="0"/>
                </a:lnTo>
                <a:lnTo>
                  <a:pt x="6089523" y="11570"/>
                </a:lnTo>
                <a:lnTo>
                  <a:pt x="6124977" y="38783"/>
                </a:lnTo>
                <a:lnTo>
                  <a:pt x="6147320" y="77491"/>
                </a:lnTo>
                <a:lnTo>
                  <a:pt x="6153149" y="106794"/>
                </a:lnTo>
                <a:lnTo>
                  <a:pt x="6153149" y="4369953"/>
                </a:lnTo>
                <a:lnTo>
                  <a:pt x="6141575" y="4413121"/>
                </a:lnTo>
                <a:lnTo>
                  <a:pt x="6114363" y="4448576"/>
                </a:lnTo>
                <a:lnTo>
                  <a:pt x="6075655" y="4470919"/>
                </a:lnTo>
                <a:lnTo>
                  <a:pt x="6053787" y="4476016"/>
                </a:lnTo>
                <a:lnTo>
                  <a:pt x="6046353"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579"/>
          </a:p>
        </p:txBody>
      </p:sp>
      <p:sp>
        <p:nvSpPr>
          <p:cNvPr id="66" name="Google Shape;66;p8"/>
          <p:cNvSpPr txBox="1"/>
          <p:nvPr/>
        </p:nvSpPr>
        <p:spPr>
          <a:xfrm>
            <a:off x="2744582" y="977457"/>
            <a:ext cx="483000" cy="74100"/>
          </a:xfrm>
          <a:prstGeom prst="rect">
            <a:avLst/>
          </a:prstGeom>
          <a:noFill/>
          <a:ln>
            <a:noFill/>
          </a:ln>
        </p:spPr>
        <p:txBody>
          <a:bodyPr spcFirstLastPara="1" wrap="square" lIns="0" tIns="7075" rIns="0" bIns="0" anchor="t" anchorCtr="0">
            <a:spAutoFit/>
          </a:bodyPr>
          <a:lstStyle/>
          <a:p>
            <a:pPr marL="5254" lvl="0" indent="0" algn="l" rtl="0">
              <a:lnSpc>
                <a:spcPct val="100000"/>
              </a:lnSpc>
              <a:spcBef>
                <a:spcPts val="0"/>
              </a:spcBef>
              <a:spcAft>
                <a:spcPts val="0"/>
              </a:spcAft>
              <a:buNone/>
            </a:pPr>
            <a:r>
              <a:rPr lang="en-US" sz="434" b="1">
                <a:solidFill>
                  <a:srgbClr val="1F3764"/>
                </a:solidFill>
                <a:latin typeface="Tahoma"/>
                <a:ea typeface="Tahoma"/>
                <a:cs typeface="Tahoma"/>
                <a:sym typeface="Tahoma"/>
              </a:rPr>
              <a:t>TEAM MEMBERS</a:t>
            </a:r>
            <a:endParaRPr sz="434">
              <a:latin typeface="Tahoma"/>
              <a:ea typeface="Tahoma"/>
              <a:cs typeface="Tahoma"/>
              <a:sym typeface="Tahoma"/>
            </a:endParaRPr>
          </a:p>
        </p:txBody>
      </p:sp>
      <p:sp>
        <p:nvSpPr>
          <p:cNvPr id="67" name="Google Shape;67;p8"/>
          <p:cNvSpPr txBox="1"/>
          <p:nvPr/>
        </p:nvSpPr>
        <p:spPr>
          <a:xfrm>
            <a:off x="610575" y="2542825"/>
            <a:ext cx="1414500" cy="114900"/>
          </a:xfrm>
          <a:prstGeom prst="rect">
            <a:avLst/>
          </a:prstGeom>
          <a:noFill/>
          <a:ln>
            <a:noFill/>
          </a:ln>
        </p:spPr>
        <p:txBody>
          <a:bodyPr spcFirstLastPara="1" wrap="square" lIns="0" tIns="7075" rIns="0" bIns="0" anchor="t" anchorCtr="0">
            <a:spAutoFit/>
          </a:bodyPr>
          <a:lstStyle/>
          <a:p>
            <a:pPr marL="5254" lvl="0" indent="0" algn="l" rtl="0">
              <a:lnSpc>
                <a:spcPct val="100000"/>
              </a:lnSpc>
              <a:spcBef>
                <a:spcPts val="0"/>
              </a:spcBef>
              <a:spcAft>
                <a:spcPts val="0"/>
              </a:spcAft>
              <a:buNone/>
            </a:pPr>
            <a:r>
              <a:rPr lang="en-US" sz="700" b="1" dirty="0">
                <a:solidFill>
                  <a:srgbClr val="1F3764"/>
                </a:solidFill>
                <a:latin typeface="Tahoma"/>
                <a:ea typeface="Tahoma"/>
                <a:cs typeface="Tahoma"/>
                <a:sym typeface="Tahoma"/>
              </a:rPr>
              <a:t>Mentor: </a:t>
            </a:r>
            <a:r>
              <a:rPr lang="en-US" sz="700" dirty="0">
                <a:solidFill>
                  <a:schemeClr val="dk1"/>
                </a:solidFill>
                <a:highlight>
                  <a:srgbClr val="FFFFFF"/>
                </a:highlight>
                <a:latin typeface="Roboto"/>
                <a:ea typeface="Roboto"/>
                <a:cs typeface="Roboto"/>
                <a:sym typeface="Roboto"/>
              </a:rPr>
              <a:t>Dr. Aditya Joshi</a:t>
            </a:r>
            <a:r>
              <a:rPr lang="en-US" sz="700" dirty="0">
                <a:solidFill>
                  <a:schemeClr val="dk1"/>
                </a:solidFill>
              </a:rPr>
              <a:t> </a:t>
            </a:r>
            <a:endParaRPr sz="700" dirty="0">
              <a:latin typeface="Times New Roman"/>
              <a:ea typeface="Times New Roman"/>
              <a:cs typeface="Times New Roman"/>
              <a:sym typeface="Times New Roman"/>
            </a:endParaRPr>
          </a:p>
        </p:txBody>
      </p:sp>
      <p:sp>
        <p:nvSpPr>
          <p:cNvPr id="69" name="Google Shape;69;p8"/>
          <p:cNvSpPr txBox="1"/>
          <p:nvPr/>
        </p:nvSpPr>
        <p:spPr>
          <a:xfrm>
            <a:off x="679550" y="1205527"/>
            <a:ext cx="1808400" cy="607162"/>
          </a:xfrm>
          <a:prstGeom prst="rect">
            <a:avLst/>
          </a:prstGeom>
          <a:noFill/>
          <a:ln>
            <a:noFill/>
          </a:ln>
        </p:spPr>
        <p:txBody>
          <a:bodyPr spcFirstLastPara="1" wrap="square" lIns="0" tIns="37600" rIns="0" bIns="0" anchor="t" anchorCtr="0">
            <a:spAutoFit/>
          </a:bodyPr>
          <a:lstStyle/>
          <a:p>
            <a:pPr marL="5411"/>
            <a:r>
              <a:rPr lang="en-US" sz="726" b="1" dirty="0">
                <a:solidFill>
                  <a:srgbClr val="2A3345"/>
                </a:solidFill>
                <a:latin typeface="Tahoma"/>
                <a:ea typeface="Tahoma"/>
                <a:cs typeface="Tahoma"/>
                <a:sym typeface="Tahoma"/>
              </a:rPr>
              <a:t>Team ID: </a:t>
            </a:r>
            <a:r>
              <a:rPr lang="en-US" sz="800" b="1" dirty="0">
                <a:effectLst/>
                <a:latin typeface="Arial" panose="020B0604020202020204" pitchFamily="34" charset="0"/>
                <a:ea typeface="Georgia" panose="02040502050405020303" pitchFamily="18" charset="0"/>
                <a:cs typeface="Georgia" panose="02040502050405020303" pitchFamily="18" charset="0"/>
              </a:rPr>
              <a:t>BCA IJP-V-2026-T040</a:t>
            </a:r>
            <a:endParaRPr sz="726" dirty="0">
              <a:latin typeface="Tahoma"/>
              <a:ea typeface="Tahoma"/>
              <a:cs typeface="Tahoma"/>
              <a:sym typeface="Tahoma"/>
            </a:endParaRPr>
          </a:p>
          <a:p>
            <a:pPr marL="5411" lvl="0" indent="0" algn="l" rtl="0">
              <a:lnSpc>
                <a:spcPct val="100000"/>
              </a:lnSpc>
              <a:spcBef>
                <a:spcPts val="256"/>
              </a:spcBef>
              <a:spcAft>
                <a:spcPts val="0"/>
              </a:spcAft>
              <a:buNone/>
            </a:pPr>
            <a:r>
              <a:rPr lang="en-US" sz="726" b="1" dirty="0">
                <a:solidFill>
                  <a:srgbClr val="2A3345"/>
                </a:solidFill>
                <a:latin typeface="Tahoma"/>
                <a:ea typeface="Tahoma"/>
                <a:cs typeface="Tahoma"/>
                <a:sym typeface="Tahoma"/>
              </a:rPr>
              <a:t>Semester: </a:t>
            </a:r>
            <a:r>
              <a:rPr lang="en-US" sz="726" dirty="0">
                <a:solidFill>
                  <a:srgbClr val="2A3345"/>
                </a:solidFill>
                <a:latin typeface="Tahoma"/>
                <a:ea typeface="Tahoma"/>
                <a:cs typeface="Tahoma"/>
                <a:sym typeface="Tahoma"/>
              </a:rPr>
              <a:t>V</a:t>
            </a:r>
            <a:endParaRPr sz="726" dirty="0">
              <a:latin typeface="Tahoma"/>
              <a:ea typeface="Tahoma"/>
              <a:cs typeface="Tahoma"/>
              <a:sym typeface="Tahoma"/>
            </a:endParaRPr>
          </a:p>
          <a:p>
            <a:pPr marL="5411" lvl="0" indent="0" algn="l" rtl="0">
              <a:lnSpc>
                <a:spcPct val="100000"/>
              </a:lnSpc>
              <a:spcBef>
                <a:spcPts val="256"/>
              </a:spcBef>
              <a:spcAft>
                <a:spcPts val="0"/>
              </a:spcAft>
              <a:buNone/>
            </a:pPr>
            <a:r>
              <a:rPr lang="en-US" sz="726" b="1" dirty="0">
                <a:solidFill>
                  <a:srgbClr val="2A3345"/>
                </a:solidFill>
                <a:latin typeface="Tahoma"/>
                <a:ea typeface="Tahoma"/>
                <a:cs typeface="Tahoma"/>
                <a:sym typeface="Tahoma"/>
              </a:rPr>
              <a:t>Section(s): H</a:t>
            </a:r>
            <a:endParaRPr sz="726" dirty="0">
              <a:latin typeface="Tahoma"/>
              <a:ea typeface="Tahoma"/>
              <a:cs typeface="Tahoma"/>
              <a:sym typeface="Tahoma"/>
            </a:endParaRPr>
          </a:p>
          <a:p>
            <a:pPr marL="5411" marR="2164" lvl="0" indent="0" algn="l" rtl="0">
              <a:lnSpc>
                <a:spcPct val="118800"/>
              </a:lnSpc>
              <a:spcBef>
                <a:spcPts val="128"/>
              </a:spcBef>
              <a:spcAft>
                <a:spcPts val="0"/>
              </a:spcAft>
              <a:buNone/>
            </a:pPr>
            <a:r>
              <a:rPr lang="en-US" sz="726" b="1" dirty="0">
                <a:solidFill>
                  <a:srgbClr val="2A3345"/>
                </a:solidFill>
                <a:latin typeface="Tahoma"/>
                <a:ea typeface="Tahoma"/>
                <a:cs typeface="Tahoma"/>
                <a:sym typeface="Tahoma"/>
              </a:rPr>
              <a:t>Domain: Java Programming </a:t>
            </a:r>
            <a:endParaRPr sz="726" dirty="0">
              <a:latin typeface="Tahoma"/>
              <a:ea typeface="Tahoma"/>
              <a:cs typeface="Tahoma"/>
              <a:sym typeface="Tahoma"/>
            </a:endParaRPr>
          </a:p>
        </p:txBody>
      </p:sp>
      <p:sp>
        <p:nvSpPr>
          <p:cNvPr id="70" name="Google Shape;70;p8"/>
          <p:cNvSpPr txBox="1"/>
          <p:nvPr/>
        </p:nvSpPr>
        <p:spPr>
          <a:xfrm>
            <a:off x="2744576" y="1055450"/>
            <a:ext cx="2257500" cy="275575"/>
          </a:xfrm>
          <a:prstGeom prst="rect">
            <a:avLst/>
          </a:prstGeom>
          <a:noFill/>
          <a:ln>
            <a:noFill/>
          </a:ln>
        </p:spPr>
        <p:txBody>
          <a:bodyPr spcFirstLastPara="1" wrap="square" lIns="0" tIns="34150" rIns="0" bIns="0" anchor="t" anchorCtr="0">
            <a:spAutoFit/>
          </a:bodyPr>
          <a:lstStyle/>
          <a:p>
            <a:pPr marL="5254" lvl="0" indent="0" algn="l" rtl="0">
              <a:lnSpc>
                <a:spcPct val="100000"/>
              </a:lnSpc>
              <a:spcBef>
                <a:spcPts val="0"/>
              </a:spcBef>
              <a:spcAft>
                <a:spcPts val="0"/>
              </a:spcAft>
              <a:buNone/>
            </a:pPr>
            <a:r>
              <a:rPr lang="en-US" sz="700" b="1" dirty="0">
                <a:solidFill>
                  <a:srgbClr val="1F3764"/>
                </a:solidFill>
                <a:latin typeface="Tahoma"/>
                <a:ea typeface="Tahoma"/>
                <a:cs typeface="Tahoma"/>
                <a:sym typeface="Tahoma"/>
              </a:rPr>
              <a:t>1.  </a:t>
            </a:r>
            <a:r>
              <a:rPr lang="en-US" sz="700" b="1" dirty="0">
                <a:solidFill>
                  <a:srgbClr val="2A3345"/>
                </a:solidFill>
                <a:latin typeface="Tahoma"/>
                <a:ea typeface="Tahoma"/>
                <a:cs typeface="Tahoma"/>
                <a:sym typeface="Tahoma"/>
              </a:rPr>
              <a:t>Simran Chauhan</a:t>
            </a:r>
            <a:r>
              <a:rPr lang="en-US" sz="700" dirty="0">
                <a:solidFill>
                  <a:srgbClr val="2A3345"/>
                </a:solidFill>
                <a:latin typeface="Tahoma"/>
                <a:ea typeface="Tahoma"/>
                <a:cs typeface="Tahoma"/>
                <a:sym typeface="Tahoma"/>
              </a:rPr>
              <a:t>(Team Lead)—ID 24152189, </a:t>
            </a:r>
            <a:r>
              <a:rPr lang="en-US" sz="700" dirty="0" err="1">
                <a:solidFill>
                  <a:srgbClr val="2A3345"/>
                </a:solidFill>
                <a:latin typeface="Tahoma"/>
                <a:ea typeface="Tahoma"/>
                <a:cs typeface="Tahoma"/>
                <a:sym typeface="Tahoma"/>
              </a:rPr>
              <a:t>Sec.H</a:t>
            </a:r>
            <a:r>
              <a:rPr lang="en-US" sz="700" dirty="0">
                <a:solidFill>
                  <a:srgbClr val="2A3345"/>
                </a:solidFill>
                <a:latin typeface="Tahoma"/>
                <a:ea typeface="Tahoma"/>
                <a:cs typeface="Tahoma"/>
                <a:sym typeface="Tahoma"/>
              </a:rPr>
              <a:t> </a:t>
            </a:r>
            <a:endParaRPr sz="700" dirty="0">
              <a:latin typeface="Tahoma"/>
              <a:ea typeface="Tahoma"/>
              <a:cs typeface="Tahoma"/>
              <a:sym typeface="Tahoma"/>
            </a:endParaRPr>
          </a:p>
          <a:p>
            <a:pPr marL="99574" lvl="0" indent="0" algn="l" rtl="0">
              <a:lnSpc>
                <a:spcPct val="100000"/>
              </a:lnSpc>
              <a:spcBef>
                <a:spcPts val="176"/>
              </a:spcBef>
              <a:spcAft>
                <a:spcPts val="0"/>
              </a:spcAft>
              <a:buNone/>
            </a:pPr>
            <a:r>
              <a:rPr lang="en-US" sz="700" i="1" u="sng" dirty="0">
                <a:solidFill>
                  <a:srgbClr val="798394"/>
                </a:solidFill>
                <a:latin typeface="Trebuchet MS"/>
                <a:ea typeface="Trebuchet MS"/>
                <a:cs typeface="Trebuchet MS"/>
                <a:sym typeface="Trebuchet MS"/>
                <a:hlinkClick r:id="rId4">
                  <a:extLst>
                    <a:ext uri="{A12FA001-AC4F-418D-AE19-62706E023703}">
                      <ahyp:hlinkClr xmlns:ahyp="http://schemas.microsoft.com/office/drawing/2018/hyperlinkcolor" val="tx"/>
                    </a:ext>
                  </a:extLst>
                </a:hlinkClick>
              </a:rPr>
              <a:t>24152189@geu.ac.in</a:t>
            </a:r>
            <a:endParaRPr sz="700" dirty="0">
              <a:latin typeface="Trebuchet MS"/>
              <a:ea typeface="Trebuchet MS"/>
              <a:cs typeface="Trebuchet MS"/>
              <a:sym typeface="Trebuchet MS"/>
            </a:endParaRPr>
          </a:p>
        </p:txBody>
      </p:sp>
      <p:sp>
        <p:nvSpPr>
          <p:cNvPr id="71" name="Google Shape;71;p8"/>
          <p:cNvSpPr txBox="1"/>
          <p:nvPr/>
        </p:nvSpPr>
        <p:spPr>
          <a:xfrm>
            <a:off x="2778600" y="1327850"/>
            <a:ext cx="2223600" cy="555139"/>
          </a:xfrm>
          <a:prstGeom prst="rect">
            <a:avLst/>
          </a:prstGeom>
          <a:noFill/>
          <a:ln>
            <a:noFill/>
          </a:ln>
        </p:spPr>
        <p:txBody>
          <a:bodyPr spcFirstLastPara="1" wrap="square" lIns="0" tIns="34150" rIns="0" bIns="0" anchor="t" anchorCtr="0">
            <a:spAutoFit/>
          </a:bodyPr>
          <a:lstStyle/>
          <a:p>
            <a:pPr marL="98786" lvl="0" indent="-111708" algn="l" rtl="0">
              <a:lnSpc>
                <a:spcPct val="100000"/>
              </a:lnSpc>
              <a:spcBef>
                <a:spcPts val="0"/>
              </a:spcBef>
              <a:spcAft>
                <a:spcPts val="0"/>
              </a:spcAft>
              <a:buClr>
                <a:srgbClr val="1F3764"/>
              </a:buClr>
              <a:buSzPts val="700"/>
              <a:buFont typeface="Tahoma"/>
              <a:buAutoNum type="arabicPeriod" startAt="2"/>
            </a:pPr>
            <a:r>
              <a:rPr lang="en-US" sz="700" b="1" dirty="0">
                <a:solidFill>
                  <a:srgbClr val="2A3345"/>
                </a:solidFill>
                <a:latin typeface="Tahoma"/>
                <a:ea typeface="Tahoma"/>
                <a:cs typeface="Tahoma"/>
                <a:sym typeface="Tahoma"/>
              </a:rPr>
              <a:t>Astha Adhikari </a:t>
            </a:r>
            <a:r>
              <a:rPr lang="en-US" sz="700" dirty="0">
                <a:solidFill>
                  <a:srgbClr val="2A3345"/>
                </a:solidFill>
                <a:latin typeface="Tahoma"/>
                <a:ea typeface="Tahoma"/>
                <a:cs typeface="Tahoma"/>
                <a:sym typeface="Tahoma"/>
              </a:rPr>
              <a:t>— ID 24152627, Sec. H</a:t>
            </a:r>
            <a:endParaRPr sz="700" dirty="0">
              <a:latin typeface="Tahoma"/>
              <a:ea typeface="Tahoma"/>
              <a:cs typeface="Tahoma"/>
              <a:sym typeface="Tahoma"/>
            </a:endParaRPr>
          </a:p>
          <a:p>
            <a:pPr marL="99574" lvl="0" indent="0" algn="l" rtl="0">
              <a:lnSpc>
                <a:spcPct val="100000"/>
              </a:lnSpc>
              <a:spcBef>
                <a:spcPts val="176"/>
              </a:spcBef>
              <a:spcAft>
                <a:spcPts val="0"/>
              </a:spcAft>
              <a:buNone/>
            </a:pPr>
            <a:r>
              <a:rPr lang="en-US" sz="700" i="1" u="sng" dirty="0">
                <a:solidFill>
                  <a:srgbClr val="798394"/>
                </a:solidFill>
                <a:latin typeface="Trebuchet MS"/>
                <a:ea typeface="Trebuchet MS"/>
                <a:cs typeface="Trebuchet MS"/>
                <a:sym typeface="Trebuchet MS"/>
                <a:hlinkClick r:id="rId5">
                  <a:extLst>
                    <a:ext uri="{A12FA001-AC4F-418D-AE19-62706E023703}">
                      <ahyp:hlinkClr xmlns:ahyp="http://schemas.microsoft.com/office/drawing/2018/hyperlinkcolor" val="tx"/>
                    </a:ext>
                  </a:extLst>
                </a:hlinkClick>
              </a:rPr>
              <a:t>24152627@geu.ac.in</a:t>
            </a:r>
            <a:endParaRPr sz="700" dirty="0">
              <a:latin typeface="Trebuchet MS"/>
              <a:ea typeface="Trebuchet MS"/>
              <a:cs typeface="Trebuchet MS"/>
              <a:sym typeface="Trebuchet MS"/>
            </a:endParaRPr>
          </a:p>
          <a:p>
            <a:pPr marL="98786" lvl="0" indent="-111708" algn="l" rtl="0">
              <a:lnSpc>
                <a:spcPct val="100000"/>
              </a:lnSpc>
              <a:spcBef>
                <a:spcPts val="327"/>
              </a:spcBef>
              <a:spcAft>
                <a:spcPts val="0"/>
              </a:spcAft>
              <a:buClr>
                <a:srgbClr val="1F3764"/>
              </a:buClr>
              <a:buSzPts val="700"/>
              <a:buFont typeface="Tahoma"/>
              <a:buAutoNum type="arabicPeriod" startAt="3"/>
            </a:pPr>
            <a:r>
              <a:rPr lang="en-US" sz="700" b="1" dirty="0">
                <a:solidFill>
                  <a:srgbClr val="2A3345"/>
                </a:solidFill>
                <a:latin typeface="Tahoma"/>
                <a:ea typeface="Tahoma"/>
                <a:cs typeface="Tahoma"/>
                <a:sym typeface="Tahoma"/>
              </a:rPr>
              <a:t>Saanidhya Kunwar </a:t>
            </a:r>
            <a:r>
              <a:rPr lang="en-US" sz="700" dirty="0">
                <a:solidFill>
                  <a:srgbClr val="2A3345"/>
                </a:solidFill>
                <a:latin typeface="Tahoma"/>
                <a:ea typeface="Tahoma"/>
                <a:cs typeface="Tahoma"/>
                <a:sym typeface="Tahoma"/>
              </a:rPr>
              <a:t>— ID 240411266, Sec. H</a:t>
            </a:r>
            <a:endParaRPr sz="700" dirty="0">
              <a:solidFill>
                <a:srgbClr val="2A3345"/>
              </a:solidFill>
              <a:latin typeface="Tahoma"/>
              <a:ea typeface="Tahoma"/>
              <a:cs typeface="Tahoma"/>
              <a:sym typeface="Tahoma"/>
            </a:endParaRPr>
          </a:p>
          <a:p>
            <a:pPr marL="99574" lvl="0" indent="0" algn="l" rtl="0">
              <a:spcBef>
                <a:spcPts val="176"/>
              </a:spcBef>
              <a:spcAft>
                <a:spcPts val="0"/>
              </a:spcAft>
              <a:buNone/>
            </a:pPr>
            <a:r>
              <a:rPr lang="en-US" sz="700" i="1" u="sng" dirty="0">
                <a:solidFill>
                  <a:srgbClr val="798394"/>
                </a:solidFill>
                <a:latin typeface="Trebuchet MS"/>
                <a:ea typeface="Trebuchet MS"/>
                <a:cs typeface="Trebuchet MS"/>
                <a:sym typeface="Trebuchet MS"/>
              </a:rPr>
              <a:t>240411266@geu.ac.in</a:t>
            </a:r>
            <a:endParaRPr sz="700" dirty="0">
              <a:solidFill>
                <a:srgbClr val="2A3345"/>
              </a:solidFill>
              <a:latin typeface="Tahoma"/>
              <a:ea typeface="Tahoma"/>
              <a:cs typeface="Tahoma"/>
              <a:sym typeface="Tahoma"/>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grpSp>
        <p:nvGrpSpPr>
          <p:cNvPr id="76" name="Google Shape;76;p9"/>
          <p:cNvGrpSpPr/>
          <p:nvPr/>
        </p:nvGrpSpPr>
        <p:grpSpPr>
          <a:xfrm>
            <a:off x="5399392" y="72605"/>
            <a:ext cx="223520" cy="223520"/>
            <a:chOff x="5399392" y="72605"/>
            <a:chExt cx="223520" cy="223520"/>
          </a:xfrm>
        </p:grpSpPr>
        <p:sp>
          <p:nvSpPr>
            <p:cNvPr id="77" name="Google Shape;77;p9"/>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8" name="Google Shape;78;p9"/>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9" name="Google Shape;79;p9"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Problem Statement &amp; Motivation</a:t>
            </a:r>
            <a:endParaRPr/>
          </a:p>
        </p:txBody>
      </p:sp>
      <p:sp>
        <p:nvSpPr>
          <p:cNvPr id="80" name="Google Shape;80;p9"/>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3" name="Google Shape;83;p9"/>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84" name="Google Shape;84;p9"/>
          <p:cNvSpPr/>
          <p:nvPr/>
        </p:nvSpPr>
        <p:spPr>
          <a:xfrm>
            <a:off x="407525" y="750750"/>
            <a:ext cx="4950619" cy="871674"/>
          </a:xfrm>
          <a:custGeom>
            <a:avLst/>
            <a:gdLst/>
            <a:ahLst/>
            <a:cxnLst/>
            <a:rect l="l" t="t" r="r" b="b"/>
            <a:pathLst>
              <a:path w="11315700" h="1162050" extrusionOk="0">
                <a:moveTo>
                  <a:pt x="11208903" y="1162049"/>
                </a:moveTo>
                <a:lnTo>
                  <a:pt x="106794" y="1162049"/>
                </a:lnTo>
                <a:lnTo>
                  <a:pt x="99362" y="1161317"/>
                </a:lnTo>
                <a:lnTo>
                  <a:pt x="57038" y="1146956"/>
                </a:lnTo>
                <a:lnTo>
                  <a:pt x="23432" y="1117491"/>
                </a:lnTo>
                <a:lnTo>
                  <a:pt x="3660" y="1077408"/>
                </a:lnTo>
                <a:lnTo>
                  <a:pt x="0" y="1055255"/>
                </a:lnTo>
                <a:lnTo>
                  <a:pt x="0" y="1047749"/>
                </a:lnTo>
                <a:lnTo>
                  <a:pt x="0" y="106794"/>
                </a:lnTo>
                <a:lnTo>
                  <a:pt x="11572" y="63625"/>
                </a:lnTo>
                <a:lnTo>
                  <a:pt x="38784" y="28170"/>
                </a:lnTo>
                <a:lnTo>
                  <a:pt x="77493" y="5827"/>
                </a:lnTo>
                <a:lnTo>
                  <a:pt x="106794" y="0"/>
                </a:lnTo>
                <a:lnTo>
                  <a:pt x="11208903" y="0"/>
                </a:lnTo>
                <a:lnTo>
                  <a:pt x="11252072" y="11571"/>
                </a:lnTo>
                <a:lnTo>
                  <a:pt x="11287527" y="38783"/>
                </a:lnTo>
                <a:lnTo>
                  <a:pt x="11309870" y="77491"/>
                </a:lnTo>
                <a:lnTo>
                  <a:pt x="11315699" y="106794"/>
                </a:lnTo>
                <a:lnTo>
                  <a:pt x="11315699" y="1055255"/>
                </a:lnTo>
                <a:lnTo>
                  <a:pt x="11304125" y="1098423"/>
                </a:lnTo>
                <a:lnTo>
                  <a:pt x="11276913" y="1133878"/>
                </a:lnTo>
                <a:lnTo>
                  <a:pt x="11238205" y="1156220"/>
                </a:lnTo>
                <a:lnTo>
                  <a:pt x="11216336" y="1161317"/>
                </a:lnTo>
                <a:lnTo>
                  <a:pt x="11208903" y="11620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1392"/>
          </a:p>
        </p:txBody>
      </p:sp>
      <p:sp>
        <p:nvSpPr>
          <p:cNvPr id="85" name="Google Shape;85;p9"/>
          <p:cNvSpPr txBox="1"/>
          <p:nvPr/>
        </p:nvSpPr>
        <p:spPr>
          <a:xfrm>
            <a:off x="477050" y="856525"/>
            <a:ext cx="1602900" cy="147000"/>
          </a:xfrm>
          <a:prstGeom prst="rect">
            <a:avLst/>
          </a:prstGeom>
          <a:noFill/>
          <a:ln>
            <a:noFill/>
          </a:ln>
        </p:spPr>
        <p:txBody>
          <a:bodyPr spcFirstLastPara="1" wrap="square" lIns="0" tIns="17025" rIns="0" bIns="0" anchor="t" anchorCtr="0">
            <a:spAutoFit/>
          </a:bodyPr>
          <a:lstStyle/>
          <a:p>
            <a:pPr marL="12629" lvl="0" indent="0" algn="l" rtl="0">
              <a:lnSpc>
                <a:spcPct val="100000"/>
              </a:lnSpc>
              <a:spcBef>
                <a:spcPts val="0"/>
              </a:spcBef>
              <a:spcAft>
                <a:spcPts val="0"/>
              </a:spcAft>
              <a:buNone/>
            </a:pPr>
            <a:r>
              <a:rPr lang="en-US" sz="844" b="1">
                <a:solidFill>
                  <a:srgbClr val="1F3764"/>
                </a:solidFill>
                <a:latin typeface="Tahoma"/>
                <a:ea typeface="Tahoma"/>
                <a:cs typeface="Tahoma"/>
                <a:sym typeface="Tahoma"/>
              </a:rPr>
              <a:t>PROBLEM STATEMENT</a:t>
            </a:r>
            <a:endParaRPr sz="844">
              <a:latin typeface="Tahoma"/>
              <a:ea typeface="Tahoma"/>
              <a:cs typeface="Tahoma"/>
              <a:sym typeface="Tahoma"/>
            </a:endParaRPr>
          </a:p>
        </p:txBody>
      </p:sp>
      <p:sp>
        <p:nvSpPr>
          <p:cNvPr id="86" name="Google Shape;86;p9"/>
          <p:cNvSpPr txBox="1"/>
          <p:nvPr/>
        </p:nvSpPr>
        <p:spPr>
          <a:xfrm>
            <a:off x="542200" y="991375"/>
            <a:ext cx="4816200" cy="334828"/>
          </a:xfrm>
          <a:prstGeom prst="rect">
            <a:avLst/>
          </a:prstGeom>
          <a:noFill/>
          <a:ln>
            <a:noFill/>
          </a:ln>
        </p:spPr>
        <p:txBody>
          <a:bodyPr spcFirstLastPara="1" wrap="square" lIns="0" tIns="87750" rIns="0" bIns="0" anchor="t" anchorCtr="0">
            <a:spAutoFit/>
          </a:bodyPr>
          <a:lstStyle/>
          <a:p>
            <a:pPr marL="12629" lvl="0" indent="0" algn="l" rtl="0">
              <a:lnSpc>
                <a:spcPct val="100000"/>
              </a:lnSpc>
              <a:spcBef>
                <a:spcPts val="0"/>
              </a:spcBef>
              <a:spcAft>
                <a:spcPts val="0"/>
              </a:spcAft>
              <a:buClr>
                <a:srgbClr val="000000"/>
              </a:buClr>
              <a:buFont typeface="Arial"/>
              <a:buNone/>
            </a:pPr>
            <a:r>
              <a:rPr lang="en-US" sz="800" dirty="0">
                <a:latin typeface="Tahoma" panose="020B0604030504040204" pitchFamily="34" charset="0"/>
                <a:ea typeface="Tahoma" panose="020B0604030504040204" pitchFamily="34" charset="0"/>
                <a:cs typeface="Tahoma" panose="020B0604030504040204" pitchFamily="34" charset="0"/>
              </a:rPr>
              <a:t>The local home-services market (plumbing, electrical work, carpentry, repairs) remains largely unorganized. Therefore, creation of a solution that solves the problem where workforce with customers.</a:t>
            </a:r>
            <a:endParaRPr sz="500" b="1" dirty="0">
              <a:solidFill>
                <a:srgbClr val="2A3345"/>
              </a:solidFill>
              <a:latin typeface="Tahoma" panose="020B0604030504040204" pitchFamily="34" charset="0"/>
              <a:ea typeface="Tahoma" panose="020B0604030504040204" pitchFamily="34" charset="0"/>
              <a:cs typeface="Tahoma" panose="020B0604030504040204" pitchFamily="34" charset="0"/>
              <a:sym typeface="Tahoma"/>
            </a:endParaRPr>
          </a:p>
        </p:txBody>
      </p:sp>
      <p:sp>
        <p:nvSpPr>
          <p:cNvPr id="87" name="Google Shape;87;p9"/>
          <p:cNvSpPr/>
          <p:nvPr/>
        </p:nvSpPr>
        <p:spPr>
          <a:xfrm>
            <a:off x="407525" y="1825068"/>
            <a:ext cx="2340293" cy="1308453"/>
          </a:xfrm>
          <a:custGeom>
            <a:avLst/>
            <a:gdLst/>
            <a:ahLst/>
            <a:cxnLst/>
            <a:rect l="l" t="t" r="r" b="b"/>
            <a:pathLst>
              <a:path w="5572125" h="1524000" extrusionOk="0">
                <a:moveTo>
                  <a:pt x="5465329" y="1523999"/>
                </a:moveTo>
                <a:lnTo>
                  <a:pt x="106794" y="1523999"/>
                </a:lnTo>
                <a:lnTo>
                  <a:pt x="99362" y="1523267"/>
                </a:lnTo>
                <a:lnTo>
                  <a:pt x="57038" y="1508905"/>
                </a:lnTo>
                <a:lnTo>
                  <a:pt x="23432" y="1479440"/>
                </a:lnTo>
                <a:lnTo>
                  <a:pt x="3660" y="1439358"/>
                </a:lnTo>
                <a:lnTo>
                  <a:pt x="0" y="1417203"/>
                </a:lnTo>
                <a:lnTo>
                  <a:pt x="0" y="1409699"/>
                </a:lnTo>
                <a:lnTo>
                  <a:pt x="0" y="106794"/>
                </a:lnTo>
                <a:lnTo>
                  <a:pt x="11572" y="63623"/>
                </a:lnTo>
                <a:lnTo>
                  <a:pt x="38784" y="28169"/>
                </a:lnTo>
                <a:lnTo>
                  <a:pt x="77493" y="5827"/>
                </a:lnTo>
                <a:lnTo>
                  <a:pt x="106794" y="0"/>
                </a:lnTo>
                <a:lnTo>
                  <a:pt x="5465329" y="0"/>
                </a:lnTo>
                <a:lnTo>
                  <a:pt x="5508498" y="11571"/>
                </a:lnTo>
                <a:lnTo>
                  <a:pt x="5543953" y="38783"/>
                </a:lnTo>
                <a:lnTo>
                  <a:pt x="5566295" y="77490"/>
                </a:lnTo>
                <a:lnTo>
                  <a:pt x="5572124" y="106794"/>
                </a:lnTo>
                <a:lnTo>
                  <a:pt x="5572124" y="1417203"/>
                </a:lnTo>
                <a:lnTo>
                  <a:pt x="5560551" y="1460373"/>
                </a:lnTo>
                <a:lnTo>
                  <a:pt x="5533339" y="1495828"/>
                </a:lnTo>
                <a:lnTo>
                  <a:pt x="5494631" y="1518171"/>
                </a:lnTo>
                <a:lnTo>
                  <a:pt x="5472762" y="1523267"/>
                </a:lnTo>
                <a:lnTo>
                  <a:pt x="5465329" y="152399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65"/>
          </a:p>
        </p:txBody>
      </p:sp>
      <p:sp>
        <p:nvSpPr>
          <p:cNvPr id="88" name="Google Shape;88;p9"/>
          <p:cNvSpPr txBox="1"/>
          <p:nvPr/>
        </p:nvSpPr>
        <p:spPr>
          <a:xfrm>
            <a:off x="526171" y="1917403"/>
            <a:ext cx="792000" cy="110700"/>
          </a:xfrm>
          <a:prstGeom prst="rect">
            <a:avLst/>
          </a:prstGeom>
          <a:noFill/>
          <a:ln>
            <a:noFill/>
          </a:ln>
        </p:spPr>
        <p:txBody>
          <a:bodyPr spcFirstLastPara="1" wrap="square" lIns="0" tIns="10600" rIns="0" bIns="0" anchor="t" anchorCtr="0">
            <a:spAutoFit/>
          </a:bodyPr>
          <a:lstStyle/>
          <a:p>
            <a:pPr marL="7851" lvl="0" indent="0" algn="l" rtl="0">
              <a:lnSpc>
                <a:spcPct val="100000"/>
              </a:lnSpc>
              <a:spcBef>
                <a:spcPts val="0"/>
              </a:spcBef>
              <a:spcAft>
                <a:spcPts val="0"/>
              </a:spcAft>
              <a:buNone/>
            </a:pPr>
            <a:r>
              <a:rPr lang="en-US" sz="649" b="1" dirty="0">
                <a:solidFill>
                  <a:srgbClr val="1F3764"/>
                </a:solidFill>
                <a:latin typeface="Tahoma"/>
                <a:ea typeface="Tahoma"/>
                <a:cs typeface="Tahoma"/>
                <a:sym typeface="Tahoma"/>
              </a:rPr>
              <a:t>MOTIVATION</a:t>
            </a:r>
            <a:endParaRPr sz="649" dirty="0">
              <a:latin typeface="Tahoma"/>
              <a:ea typeface="Tahoma"/>
              <a:cs typeface="Tahoma"/>
              <a:sym typeface="Tahoma"/>
            </a:endParaRPr>
          </a:p>
        </p:txBody>
      </p:sp>
      <p:sp>
        <p:nvSpPr>
          <p:cNvPr id="89" name="Google Shape;89;p9"/>
          <p:cNvSpPr txBox="1"/>
          <p:nvPr/>
        </p:nvSpPr>
        <p:spPr>
          <a:xfrm>
            <a:off x="526171" y="2039103"/>
            <a:ext cx="2103000" cy="787566"/>
          </a:xfrm>
          <a:prstGeom prst="rect">
            <a:avLst/>
          </a:prstGeom>
          <a:noFill/>
          <a:ln>
            <a:noFill/>
          </a:ln>
        </p:spPr>
        <p:txBody>
          <a:bodyPr spcFirstLastPara="1" wrap="square" lIns="0" tIns="54525" rIns="0" bIns="0" anchor="t" anchorCtr="0">
            <a:spAutoFit/>
          </a:bodyPr>
          <a:lstStyle/>
          <a:p>
            <a:pPr marL="7851" lvl="0"/>
            <a:r>
              <a:rPr lang="en-US" sz="680" dirty="0">
                <a:latin typeface="Tahoma" panose="020B0604030504040204" pitchFamily="34" charset="0"/>
                <a:ea typeface="Tahoma" panose="020B0604030504040204" pitchFamily="34" charset="0"/>
                <a:cs typeface="Tahoma" panose="020B0604030504040204" pitchFamily="34" charset="0"/>
              </a:rPr>
              <a:t>The main reason behind selecting this particular project and considering its development in the future is the necessity to digitize and regulate the local informal market. The traditional word-of-mouth method usually results in a lack of control and creates limitations for b2b service providers like plumbers or carpenters.</a:t>
            </a:r>
            <a:endParaRPr sz="680"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92" name="Google Shape;92;p9"/>
          <p:cNvSpPr/>
          <p:nvPr/>
        </p:nvSpPr>
        <p:spPr>
          <a:xfrm>
            <a:off x="2811350" y="1823387"/>
            <a:ext cx="2549247" cy="1308453"/>
          </a:xfrm>
          <a:custGeom>
            <a:avLst/>
            <a:gdLst/>
            <a:ahLst/>
            <a:cxnLst/>
            <a:rect l="l" t="t" r="r" b="b"/>
            <a:pathLst>
              <a:path w="5572125" h="1524000" extrusionOk="0">
                <a:moveTo>
                  <a:pt x="5465328" y="1523999"/>
                </a:moveTo>
                <a:lnTo>
                  <a:pt x="106795" y="1523999"/>
                </a:lnTo>
                <a:lnTo>
                  <a:pt x="99361" y="1523267"/>
                </a:lnTo>
                <a:lnTo>
                  <a:pt x="57037" y="1508905"/>
                </a:lnTo>
                <a:lnTo>
                  <a:pt x="23432" y="1479440"/>
                </a:lnTo>
                <a:lnTo>
                  <a:pt x="3660" y="1439358"/>
                </a:lnTo>
                <a:lnTo>
                  <a:pt x="0" y="1417203"/>
                </a:lnTo>
                <a:lnTo>
                  <a:pt x="0" y="1409699"/>
                </a:lnTo>
                <a:lnTo>
                  <a:pt x="0" y="106794"/>
                </a:lnTo>
                <a:lnTo>
                  <a:pt x="11572" y="63623"/>
                </a:lnTo>
                <a:lnTo>
                  <a:pt x="38784" y="28169"/>
                </a:lnTo>
                <a:lnTo>
                  <a:pt x="77492" y="5827"/>
                </a:lnTo>
                <a:lnTo>
                  <a:pt x="106795" y="0"/>
                </a:lnTo>
                <a:lnTo>
                  <a:pt x="5465328" y="0"/>
                </a:lnTo>
                <a:lnTo>
                  <a:pt x="5508498" y="11571"/>
                </a:lnTo>
                <a:lnTo>
                  <a:pt x="5543953" y="38783"/>
                </a:lnTo>
                <a:lnTo>
                  <a:pt x="5566295" y="77490"/>
                </a:lnTo>
                <a:lnTo>
                  <a:pt x="5572124" y="106794"/>
                </a:lnTo>
                <a:lnTo>
                  <a:pt x="5572124" y="1417203"/>
                </a:lnTo>
                <a:lnTo>
                  <a:pt x="5560550" y="1460373"/>
                </a:lnTo>
                <a:lnTo>
                  <a:pt x="5533338" y="1495828"/>
                </a:lnTo>
                <a:lnTo>
                  <a:pt x="5494630" y="1518171"/>
                </a:lnTo>
                <a:lnTo>
                  <a:pt x="5472762" y="1523267"/>
                </a:lnTo>
                <a:lnTo>
                  <a:pt x="5465328" y="152399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756"/>
          </a:p>
        </p:txBody>
      </p:sp>
      <p:sp>
        <p:nvSpPr>
          <p:cNvPr id="93" name="Google Shape;93;p9"/>
          <p:cNvSpPr txBox="1"/>
          <p:nvPr/>
        </p:nvSpPr>
        <p:spPr>
          <a:xfrm>
            <a:off x="2950300" y="1937403"/>
            <a:ext cx="1467000" cy="101700"/>
          </a:xfrm>
          <a:prstGeom prst="rect">
            <a:avLst/>
          </a:prstGeom>
          <a:noFill/>
          <a:ln>
            <a:noFill/>
          </a:ln>
        </p:spPr>
        <p:txBody>
          <a:bodyPr spcFirstLastPara="1" wrap="square" lIns="0" tIns="9250" rIns="0" bIns="0" anchor="t" anchorCtr="0">
            <a:spAutoFit/>
          </a:bodyPr>
          <a:lstStyle/>
          <a:p>
            <a:pPr marL="6863" lvl="0" indent="0" algn="l" rtl="0">
              <a:lnSpc>
                <a:spcPct val="100000"/>
              </a:lnSpc>
              <a:spcBef>
                <a:spcPts val="0"/>
              </a:spcBef>
              <a:spcAft>
                <a:spcPts val="0"/>
              </a:spcAft>
              <a:buNone/>
            </a:pPr>
            <a:r>
              <a:rPr lang="en-US" sz="600" b="1" dirty="0">
                <a:solidFill>
                  <a:srgbClr val="1F3764"/>
                </a:solidFill>
                <a:latin typeface="Tahoma"/>
                <a:ea typeface="Tahoma"/>
                <a:cs typeface="Tahoma"/>
                <a:sym typeface="Tahoma"/>
              </a:rPr>
              <a:t>TARGET USERS </a:t>
            </a:r>
            <a:endParaRPr sz="600" dirty="0">
              <a:latin typeface="Tahoma"/>
              <a:ea typeface="Tahoma"/>
              <a:cs typeface="Tahoma"/>
              <a:sym typeface="Tahoma"/>
            </a:endParaRPr>
          </a:p>
        </p:txBody>
      </p:sp>
      <p:sp>
        <p:nvSpPr>
          <p:cNvPr id="94" name="Google Shape;94;p9"/>
          <p:cNvSpPr txBox="1"/>
          <p:nvPr/>
        </p:nvSpPr>
        <p:spPr>
          <a:xfrm>
            <a:off x="2946568" y="2094933"/>
            <a:ext cx="2262000" cy="843741"/>
          </a:xfrm>
          <a:prstGeom prst="rect">
            <a:avLst/>
          </a:prstGeom>
          <a:noFill/>
          <a:ln>
            <a:noFill/>
          </a:ln>
        </p:spPr>
        <p:txBody>
          <a:bodyPr spcFirstLastPara="1" wrap="square" lIns="0" tIns="6525" rIns="0" bIns="0" anchor="t" anchorCtr="0">
            <a:spAutoFit/>
          </a:bodyPr>
          <a:lstStyle/>
          <a:p>
            <a:pPr marL="7851" lvl="0"/>
            <a:r>
              <a:rPr lang="en-US" sz="680" dirty="0">
                <a:latin typeface="Tahoma" panose="020B0604030504040204" pitchFamily="34" charset="0"/>
                <a:ea typeface="Tahoma" panose="020B0604030504040204" pitchFamily="34" charset="0"/>
                <a:cs typeface="Tahoma" panose="020B0604030504040204" pitchFamily="34" charset="0"/>
              </a:rPr>
              <a:t>The Worker Marketplace will be used by three main types of users. First,  searching for specific local services and wanting to receive high-quality verified orders. Second, skilled workers, like plumbers, electricians, and carpenters, wish to post their available hours to gain more users and expand their customer base without additional agents or companies. Finally, the Admins Fixing the gap between workers and client.</a:t>
            </a:r>
            <a:endParaRPr lang="en-US" sz="680" dirty="0">
              <a:latin typeface="Tahoma" panose="020B0604030504040204" pitchFamily="34" charset="0"/>
              <a:ea typeface="Tahoma" panose="020B0604030504040204" pitchFamily="34" charset="0"/>
              <a:cs typeface="Tahoma" panose="020B0604030504040204" pitchFamily="34" charset="0"/>
              <a:sym typeface="Tahoma"/>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10"/>
          <p:cNvGrpSpPr/>
          <p:nvPr/>
        </p:nvGrpSpPr>
        <p:grpSpPr>
          <a:xfrm>
            <a:off x="5399392" y="72605"/>
            <a:ext cx="223520" cy="223520"/>
            <a:chOff x="5399392" y="72605"/>
            <a:chExt cx="223520" cy="223520"/>
          </a:xfrm>
        </p:grpSpPr>
        <p:sp>
          <p:nvSpPr>
            <p:cNvPr id="100" name="Google Shape;100;p10"/>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1" name="Google Shape;101;p10"/>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02" name="Google Shape;102;p10"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Objectives</a:t>
            </a:r>
            <a:endParaRPr/>
          </a:p>
        </p:txBody>
      </p:sp>
      <p:sp>
        <p:nvSpPr>
          <p:cNvPr id="103" name="Google Shape;103;p10"/>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4" name="Google Shape;104;p10"/>
          <p:cNvSpPr txBox="1"/>
          <p:nvPr/>
        </p:nvSpPr>
        <p:spPr>
          <a:xfrm>
            <a:off x="347294" y="796224"/>
            <a:ext cx="3561000" cy="18090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b="1" dirty="0">
                <a:solidFill>
                  <a:srgbClr val="133768"/>
                </a:solidFill>
                <a:latin typeface="Tahoma"/>
                <a:ea typeface="Tahoma"/>
                <a:cs typeface="Tahoma"/>
                <a:sym typeface="Tahoma"/>
              </a:rPr>
              <a:t>Project Objectives</a:t>
            </a:r>
            <a:endParaRPr sz="1100" dirty="0">
              <a:latin typeface="Arial"/>
              <a:ea typeface="Arial"/>
              <a:cs typeface="Arial"/>
              <a:sym typeface="Arial"/>
            </a:endParaRPr>
          </a:p>
        </p:txBody>
      </p:sp>
      <p:pic>
        <p:nvPicPr>
          <p:cNvPr id="108" name="Google Shape;108;p10"/>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09" name="Google Shape;109;p10"/>
          <p:cNvSpPr txBox="1"/>
          <p:nvPr/>
        </p:nvSpPr>
        <p:spPr>
          <a:xfrm>
            <a:off x="347294" y="1154286"/>
            <a:ext cx="5084100" cy="1049513"/>
          </a:xfrm>
          <a:prstGeom prst="rect">
            <a:avLst/>
          </a:prstGeom>
          <a:noFill/>
          <a:ln>
            <a:noFill/>
          </a:ln>
        </p:spPr>
        <p:txBody>
          <a:bodyPr spcFirstLastPara="1" wrap="square" lIns="0" tIns="106675" rIns="0" bIns="0" anchor="t" anchorCtr="0">
            <a:spAutoFit/>
          </a:bodyPr>
          <a:lstStyle/>
          <a:p>
            <a:pPr marL="228600" indent="-228600">
              <a:buFont typeface="+mj-lt"/>
              <a:buAutoNum type="arabicPeriod"/>
            </a:pPr>
            <a:r>
              <a:rPr lang="en-US" sz="680" dirty="0"/>
              <a:t>Digitize Discovery: Connect the target audience of homeowners with local tradespeople.</a:t>
            </a:r>
          </a:p>
          <a:p>
            <a:pPr marL="228600" indent="-228600">
              <a:buFont typeface="+mj-lt"/>
              <a:buAutoNum type="arabicPeriod"/>
            </a:pPr>
            <a:endParaRPr lang="en-US" sz="680" dirty="0"/>
          </a:p>
          <a:p>
            <a:pPr marL="228600" indent="-228600">
              <a:buFont typeface="+mj-lt"/>
              <a:buAutoNum type="arabicPeriod"/>
            </a:pPr>
            <a:r>
              <a:rPr lang="en-US" sz="680" dirty="0"/>
              <a:t>Direct Booking: Remove middlemen agencies and standardize the fee charging process.</a:t>
            </a:r>
          </a:p>
          <a:p>
            <a:pPr marL="228600" indent="-228600">
              <a:buFont typeface="+mj-lt"/>
              <a:buAutoNum type="arabicPeriod"/>
            </a:pPr>
            <a:endParaRPr lang="en-US" sz="680" dirty="0"/>
          </a:p>
          <a:p>
            <a:pPr marL="228600" indent="-228600">
              <a:buFont typeface="+mj-lt"/>
              <a:buAutoNum type="arabicPeriod"/>
            </a:pPr>
            <a:r>
              <a:rPr lang="en-US" sz="680" dirty="0"/>
              <a:t>Ensure Trust: Facilitate skill-specific search, cost transparency, and review-based ratings.</a:t>
            </a:r>
          </a:p>
          <a:p>
            <a:pPr marL="228600" indent="-228600">
              <a:buFont typeface="+mj-lt"/>
              <a:buAutoNum type="arabicPeriod"/>
            </a:pPr>
            <a:endParaRPr lang="en-US" sz="680" dirty="0"/>
          </a:p>
          <a:p>
            <a:pPr marL="228600" indent="-228600">
              <a:buFont typeface="+mj-lt"/>
              <a:buAutoNum type="arabicPeriod"/>
            </a:pPr>
            <a:r>
              <a:rPr lang="en-US" sz="680" dirty="0"/>
              <a:t>Build Full-Stack Application: Develop a full-stack application based on REST API using Java Spring Boot and MySQL database.</a:t>
            </a:r>
          </a:p>
          <a:p>
            <a:pPr marL="228600" indent="-228600">
              <a:buFont typeface="+mj-lt"/>
              <a:buAutoNum type="arabicPeriod"/>
            </a:pPr>
            <a:endParaRPr lang="en-US" sz="680" dirty="0"/>
          </a:p>
          <a:p>
            <a:pPr marL="228600" indent="-228600">
              <a:buFont typeface="+mj-lt"/>
              <a:buAutoNum type="arabicPeriod"/>
            </a:pPr>
            <a:r>
              <a:rPr lang="en-US" sz="680" dirty="0"/>
              <a:t>Multi-User Dashboards: Create multi-user dashboards for Homeowners, Workers, and Admins.</a:t>
            </a: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grpSp>
        <p:nvGrpSpPr>
          <p:cNvPr id="114" name="Google Shape;114;p11"/>
          <p:cNvGrpSpPr/>
          <p:nvPr/>
        </p:nvGrpSpPr>
        <p:grpSpPr>
          <a:xfrm>
            <a:off x="5399392" y="72605"/>
            <a:ext cx="223520" cy="223520"/>
            <a:chOff x="5399392" y="72605"/>
            <a:chExt cx="223520" cy="223520"/>
          </a:xfrm>
        </p:grpSpPr>
        <p:sp>
          <p:nvSpPr>
            <p:cNvPr id="115" name="Google Shape;115;p11"/>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6" name="Google Shape;116;p11"/>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17" name="Google Shape;117;p11"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Proposed Solution</a:t>
            </a:r>
            <a:endParaRPr/>
          </a:p>
        </p:txBody>
      </p:sp>
      <p:sp>
        <p:nvSpPr>
          <p:cNvPr id="118" name="Google Shape;118;p11"/>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1" name="Google Shape;121;p11"/>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22" name="Google Shape;122;p11"/>
          <p:cNvSpPr txBox="1"/>
          <p:nvPr/>
        </p:nvSpPr>
        <p:spPr>
          <a:xfrm>
            <a:off x="404118" y="809725"/>
            <a:ext cx="2981700" cy="16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78" b="1" i="0" u="none" strike="noStrike" cap="none" dirty="0">
                <a:solidFill>
                  <a:srgbClr val="0D2A58"/>
                </a:solidFill>
                <a:latin typeface="Quattrocento Sans"/>
                <a:ea typeface="Quattrocento Sans"/>
                <a:cs typeface="Quattrocento Sans"/>
                <a:sym typeface="Quattrocento Sans"/>
              </a:rPr>
              <a:t>Proposed Approach</a:t>
            </a:r>
            <a:endParaRPr sz="802" dirty="0"/>
          </a:p>
        </p:txBody>
      </p:sp>
      <p:sp>
        <p:nvSpPr>
          <p:cNvPr id="36" name="TextBox 35">
            <a:extLst>
              <a:ext uri="{FF2B5EF4-FFF2-40B4-BE49-F238E27FC236}">
                <a16:creationId xmlns:a16="http://schemas.microsoft.com/office/drawing/2014/main" id="{0BB7F4B6-F12D-43BF-B0B0-C144876AA96E}"/>
              </a:ext>
            </a:extLst>
          </p:cNvPr>
          <p:cNvSpPr txBox="1"/>
          <p:nvPr/>
        </p:nvSpPr>
        <p:spPr>
          <a:xfrm>
            <a:off x="347294" y="1157682"/>
            <a:ext cx="4359394" cy="929485"/>
          </a:xfrm>
          <a:prstGeom prst="rect">
            <a:avLst/>
          </a:prstGeom>
          <a:noFill/>
        </p:spPr>
        <p:txBody>
          <a:bodyPr wrap="square">
            <a:spAutoFit/>
          </a:bodyPr>
          <a:lstStyle/>
          <a:p>
            <a:r>
              <a:rPr lang="en-IN" sz="680" dirty="0"/>
              <a:t>1. Requirement Analysis: Elaborate the end-user requirements, design MySQL database schema, plan system architecture, develop wireframes and </a:t>
            </a:r>
            <a:r>
              <a:rPr lang="en-IN" sz="680" dirty="0" err="1"/>
              <a:t>mockups</a:t>
            </a:r>
            <a:r>
              <a:rPr lang="en-IN" sz="680" dirty="0"/>
              <a:t>.</a:t>
            </a:r>
          </a:p>
          <a:p>
            <a:endParaRPr lang="en-IN" sz="680" dirty="0"/>
          </a:p>
          <a:p>
            <a:r>
              <a:rPr lang="en-IN" sz="680" dirty="0"/>
              <a:t>2. Development: Build a REST API using Java Spring Boot, implement Spring Security features, develop responsive web interfaces using Bootstrap front-end framework.</a:t>
            </a:r>
          </a:p>
          <a:p>
            <a:endParaRPr lang="en-IN" sz="680" dirty="0"/>
          </a:p>
          <a:p>
            <a:r>
              <a:rPr lang="en-IN" sz="680" dirty="0"/>
              <a:t>3. Testing &amp; Deployment: Conduct REST API testing using Postman tool, carry out end-to-end testing, fix discovered bugs, prepare final project documentation.</a:t>
            </a: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grpSp>
        <p:nvGrpSpPr>
          <p:cNvPr id="152" name="Google Shape;152;p12"/>
          <p:cNvGrpSpPr/>
          <p:nvPr/>
        </p:nvGrpSpPr>
        <p:grpSpPr>
          <a:xfrm>
            <a:off x="5399392" y="72605"/>
            <a:ext cx="223520" cy="223520"/>
            <a:chOff x="5399392" y="72605"/>
            <a:chExt cx="223520" cy="223520"/>
          </a:xfrm>
        </p:grpSpPr>
        <p:sp>
          <p:nvSpPr>
            <p:cNvPr id="153" name="Google Shape;153;p12"/>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4" name="Google Shape;154;p12"/>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5" name="Google Shape;155;p12" descr="$PPTXTitle"/>
          <p:cNvSpPr txBox="1">
            <a:spLocks noGrp="1"/>
          </p:cNvSpPr>
          <p:nvPr>
            <p:ph type="title"/>
          </p:nvPr>
        </p:nvSpPr>
        <p:spPr>
          <a:xfrm>
            <a:off x="347301" y="302850"/>
            <a:ext cx="37851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Integration of PBL Course Concepts</a:t>
            </a:r>
            <a:endParaRPr/>
          </a:p>
        </p:txBody>
      </p:sp>
      <p:sp>
        <p:nvSpPr>
          <p:cNvPr id="156" name="Google Shape;156;p12"/>
          <p:cNvSpPr/>
          <p:nvPr/>
        </p:nvSpPr>
        <p:spPr>
          <a:xfrm>
            <a:off x="362894" y="753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9" name="Google Shape;159;p12"/>
          <p:cNvPicPr preferRelativeResize="0"/>
          <p:nvPr/>
        </p:nvPicPr>
        <p:blipFill rotWithShape="1">
          <a:blip r:embed="rId3">
            <a:alphaModFix/>
          </a:blip>
          <a:srcRect/>
          <a:stretch/>
        </p:blipFill>
        <p:spPr>
          <a:xfrm>
            <a:off x="5396535" y="72605"/>
            <a:ext cx="223519" cy="223519"/>
          </a:xfrm>
          <a:prstGeom prst="rect">
            <a:avLst/>
          </a:prstGeom>
          <a:noFill/>
          <a:ln>
            <a:noFill/>
          </a:ln>
        </p:spPr>
      </p:pic>
      <p:grpSp>
        <p:nvGrpSpPr>
          <p:cNvPr id="160" name="Google Shape;160;p12"/>
          <p:cNvGrpSpPr/>
          <p:nvPr/>
        </p:nvGrpSpPr>
        <p:grpSpPr>
          <a:xfrm>
            <a:off x="161569" y="874174"/>
            <a:ext cx="5593351" cy="592176"/>
            <a:chOff x="438137" y="843487"/>
            <a:chExt cx="11315700" cy="642413"/>
          </a:xfrm>
        </p:grpSpPr>
        <p:sp>
          <p:nvSpPr>
            <p:cNvPr id="161" name="Google Shape;161;p12"/>
            <p:cNvSpPr/>
            <p:nvPr/>
          </p:nvSpPr>
          <p:spPr>
            <a:xfrm>
              <a:off x="438137" y="843487"/>
              <a:ext cx="11315700" cy="276225"/>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1F3764"/>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2" name="Google Shape;162;p12"/>
            <p:cNvSpPr/>
            <p:nvPr/>
          </p:nvSpPr>
          <p:spPr>
            <a:xfrm>
              <a:off x="438137" y="1209674"/>
              <a:ext cx="11315700" cy="276225"/>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F2F7FE"/>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grpSp>
      <p:sp>
        <p:nvSpPr>
          <p:cNvPr id="163" name="Google Shape;163;p12"/>
          <p:cNvSpPr/>
          <p:nvPr/>
        </p:nvSpPr>
        <p:spPr>
          <a:xfrm>
            <a:off x="161589" y="1861447"/>
            <a:ext cx="5601272" cy="254818"/>
          </a:xfrm>
          <a:custGeom>
            <a:avLst/>
            <a:gdLst/>
            <a:ahLst/>
            <a:cxnLst/>
            <a:rect l="l" t="t" r="r" b="b"/>
            <a:pathLst>
              <a:path w="11315700" h="276225" extrusionOk="0">
                <a:moveTo>
                  <a:pt x="11315700" y="0"/>
                </a:moveTo>
                <a:lnTo>
                  <a:pt x="4752975" y="0"/>
                </a:lnTo>
                <a:lnTo>
                  <a:pt x="0" y="0"/>
                </a:lnTo>
                <a:lnTo>
                  <a:pt x="0" y="276225"/>
                </a:lnTo>
                <a:lnTo>
                  <a:pt x="4752975" y="276225"/>
                </a:lnTo>
                <a:lnTo>
                  <a:pt x="11315700" y="276225"/>
                </a:lnTo>
                <a:lnTo>
                  <a:pt x="11315700" y="0"/>
                </a:lnTo>
                <a:close/>
              </a:path>
            </a:pathLst>
          </a:custGeom>
          <a:solidFill>
            <a:srgbClr val="F2F7FE"/>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4" name="Google Shape;164;p12"/>
          <p:cNvSpPr/>
          <p:nvPr/>
        </p:nvSpPr>
        <p:spPr>
          <a:xfrm>
            <a:off x="161589" y="1457563"/>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5" name="Google Shape;165;p12"/>
          <p:cNvSpPr/>
          <p:nvPr/>
        </p:nvSpPr>
        <p:spPr>
          <a:xfrm>
            <a:off x="161589" y="1852667"/>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6" name="Google Shape;166;p12"/>
          <p:cNvSpPr/>
          <p:nvPr/>
        </p:nvSpPr>
        <p:spPr>
          <a:xfrm>
            <a:off x="161589" y="2107290"/>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7" name="Google Shape;167;p12"/>
          <p:cNvSpPr/>
          <p:nvPr/>
        </p:nvSpPr>
        <p:spPr>
          <a:xfrm>
            <a:off x="161589" y="2361913"/>
            <a:ext cx="5601272" cy="8787"/>
          </a:xfrm>
          <a:custGeom>
            <a:avLst/>
            <a:gdLst/>
            <a:ahLst/>
            <a:cxnLst/>
            <a:rect l="l" t="t" r="r" b="b"/>
            <a:pathLst>
              <a:path w="11315700" h="9525" extrusionOk="0">
                <a:moveTo>
                  <a:pt x="11315700" y="0"/>
                </a:moveTo>
                <a:lnTo>
                  <a:pt x="4752975" y="0"/>
                </a:lnTo>
                <a:lnTo>
                  <a:pt x="0" y="0"/>
                </a:lnTo>
                <a:lnTo>
                  <a:pt x="0" y="9525"/>
                </a:lnTo>
                <a:lnTo>
                  <a:pt x="4752975" y="9525"/>
                </a:lnTo>
                <a:lnTo>
                  <a:pt x="11315700" y="9525"/>
                </a:lnTo>
                <a:lnTo>
                  <a:pt x="11315700" y="0"/>
                </a:lnTo>
                <a:close/>
              </a:path>
            </a:pathLst>
          </a:custGeom>
          <a:solidFill>
            <a:srgbClr val="C8DBF0"/>
          </a:solidFill>
          <a:ln>
            <a:noFill/>
          </a:ln>
        </p:spPr>
        <p:txBody>
          <a:bodyPr spcFirstLastPara="1" wrap="square" lIns="0" tIns="0" rIns="0" bIns="0" anchor="t" anchorCtr="0">
            <a:noAutofit/>
          </a:bodyPr>
          <a:lstStyle/>
          <a:p>
            <a:pPr marL="0" lvl="0" indent="0" algn="l" rtl="0">
              <a:spcBef>
                <a:spcPts val="0"/>
              </a:spcBef>
              <a:spcAft>
                <a:spcPts val="0"/>
              </a:spcAft>
              <a:buNone/>
            </a:pPr>
            <a:endParaRPr sz="1291"/>
          </a:p>
        </p:txBody>
      </p:sp>
      <p:sp>
        <p:nvSpPr>
          <p:cNvPr id="168" name="Google Shape;168;p12"/>
          <p:cNvSpPr txBox="1"/>
          <p:nvPr/>
        </p:nvSpPr>
        <p:spPr>
          <a:xfrm>
            <a:off x="214673" y="953050"/>
            <a:ext cx="1524000" cy="141900"/>
          </a:xfrm>
          <a:prstGeom prst="rect">
            <a:avLst/>
          </a:prstGeom>
          <a:noFill/>
          <a:ln>
            <a:noFill/>
          </a:ln>
        </p:spPr>
        <p:txBody>
          <a:bodyPr spcFirstLastPara="1" wrap="square" lIns="0" tIns="14025" rIns="0" bIns="0" anchor="t" anchorCtr="0">
            <a:spAutoFit/>
          </a:bodyPr>
          <a:lstStyle/>
          <a:p>
            <a:pPr marL="0" lvl="0" indent="0" algn="l" rtl="0">
              <a:lnSpc>
                <a:spcPct val="100000"/>
              </a:lnSpc>
              <a:spcBef>
                <a:spcPts val="0"/>
              </a:spcBef>
              <a:spcAft>
                <a:spcPts val="0"/>
              </a:spcAft>
              <a:buNone/>
            </a:pPr>
            <a:r>
              <a:rPr lang="en-US" sz="830" b="1">
                <a:solidFill>
                  <a:srgbClr val="FFFFFF"/>
                </a:solidFill>
                <a:latin typeface="Tahoma"/>
                <a:ea typeface="Tahoma"/>
                <a:cs typeface="Tahoma"/>
                <a:sym typeface="Tahoma"/>
              </a:rPr>
              <a:t>Course Concepts Applied</a:t>
            </a:r>
            <a:endParaRPr sz="830">
              <a:latin typeface="Tahoma"/>
              <a:ea typeface="Tahoma"/>
              <a:cs typeface="Tahoma"/>
              <a:sym typeface="Tahoma"/>
            </a:endParaRPr>
          </a:p>
        </p:txBody>
      </p:sp>
      <p:sp>
        <p:nvSpPr>
          <p:cNvPr id="170" name="Google Shape;170;p12"/>
          <p:cNvSpPr txBox="1"/>
          <p:nvPr/>
        </p:nvSpPr>
        <p:spPr>
          <a:xfrm>
            <a:off x="247950" y="1191450"/>
            <a:ext cx="2617200" cy="116978"/>
          </a:xfrm>
          <a:prstGeom prst="rect">
            <a:avLst/>
          </a:prstGeom>
          <a:noFill/>
          <a:ln>
            <a:noFill/>
          </a:ln>
        </p:spPr>
        <p:txBody>
          <a:bodyPr spcFirstLastPara="1" wrap="square" lIns="0" tIns="12850" rIns="0" bIns="0" anchor="t" anchorCtr="0">
            <a:spAutoFit/>
          </a:bodyPr>
          <a:lstStyle/>
          <a:p>
            <a:pPr marL="0" lvl="0" indent="0" algn="l" rtl="0">
              <a:lnSpc>
                <a:spcPct val="100000"/>
              </a:lnSpc>
              <a:spcBef>
                <a:spcPts val="0"/>
              </a:spcBef>
              <a:spcAft>
                <a:spcPts val="0"/>
              </a:spcAft>
              <a:buNone/>
            </a:pPr>
            <a:r>
              <a:rPr lang="en-US" sz="676" b="1" dirty="0">
                <a:solidFill>
                  <a:srgbClr val="2A3345"/>
                </a:solidFill>
                <a:latin typeface="Tahoma"/>
                <a:ea typeface="Tahoma"/>
                <a:cs typeface="Tahoma"/>
                <a:sym typeface="Tahoma"/>
              </a:rPr>
              <a:t>Data Structures / OOPs (Java)</a:t>
            </a:r>
            <a:r>
              <a:rPr lang="en-US" sz="676" dirty="0">
                <a:solidFill>
                  <a:srgbClr val="2A3345"/>
                </a:solidFill>
                <a:latin typeface="Tahoma"/>
                <a:ea typeface="Tahoma"/>
                <a:cs typeface="Tahoma"/>
                <a:sym typeface="Tahoma"/>
              </a:rPr>
              <a:t>—classes, Multithreading</a:t>
            </a:r>
            <a:endParaRPr sz="676" dirty="0">
              <a:latin typeface="Tahoma"/>
              <a:ea typeface="Tahoma"/>
              <a:cs typeface="Tahoma"/>
              <a:sym typeface="Tahoma"/>
            </a:endParaRPr>
          </a:p>
        </p:txBody>
      </p:sp>
      <p:sp>
        <p:nvSpPr>
          <p:cNvPr id="172" name="Google Shape;172;p12"/>
          <p:cNvSpPr txBox="1"/>
          <p:nvPr/>
        </p:nvSpPr>
        <p:spPr>
          <a:xfrm>
            <a:off x="214673" y="1590438"/>
            <a:ext cx="2491200" cy="115104"/>
          </a:xfrm>
          <a:prstGeom prst="rect">
            <a:avLst/>
          </a:prstGeom>
          <a:noFill/>
          <a:ln>
            <a:noFill/>
          </a:ln>
        </p:spPr>
        <p:txBody>
          <a:bodyPr spcFirstLastPara="1" wrap="square" lIns="0" tIns="5850" rIns="0" bIns="0" anchor="t" anchorCtr="0">
            <a:spAutoFit/>
          </a:bodyPr>
          <a:lstStyle/>
          <a:p>
            <a:pPr marL="11707" marR="4682" lvl="0" indent="0" algn="l" rtl="0">
              <a:lnSpc>
                <a:spcPct val="105300"/>
              </a:lnSpc>
              <a:spcBef>
                <a:spcPts val="0"/>
              </a:spcBef>
              <a:spcAft>
                <a:spcPts val="0"/>
              </a:spcAft>
              <a:buNone/>
            </a:pPr>
            <a:r>
              <a:rPr lang="en-US" sz="676" b="1" dirty="0">
                <a:solidFill>
                  <a:srgbClr val="2A3345"/>
                </a:solidFill>
                <a:latin typeface="Tahoma"/>
                <a:ea typeface="Tahoma"/>
                <a:cs typeface="Tahoma"/>
                <a:sym typeface="Tahoma"/>
              </a:rPr>
              <a:t>backend </a:t>
            </a:r>
            <a:r>
              <a:rPr lang="en-US" sz="676" dirty="0">
                <a:solidFill>
                  <a:srgbClr val="2A3345"/>
                </a:solidFill>
                <a:latin typeface="Tahoma"/>
                <a:ea typeface="Tahoma"/>
                <a:cs typeface="Tahoma"/>
                <a:sym typeface="Tahoma"/>
              </a:rPr>
              <a:t>— Spring boot</a:t>
            </a:r>
            <a:endParaRPr sz="676" dirty="0">
              <a:latin typeface="Tahoma"/>
              <a:ea typeface="Tahoma"/>
              <a:cs typeface="Tahoma"/>
              <a:sym typeface="Tahoma"/>
            </a:endParaRPr>
          </a:p>
        </p:txBody>
      </p:sp>
      <p:sp>
        <p:nvSpPr>
          <p:cNvPr id="174" name="Google Shape;174;p12"/>
          <p:cNvSpPr txBox="1"/>
          <p:nvPr/>
        </p:nvSpPr>
        <p:spPr>
          <a:xfrm>
            <a:off x="161595" y="1904177"/>
            <a:ext cx="5593800" cy="349221"/>
          </a:xfrm>
          <a:prstGeom prst="rect">
            <a:avLst/>
          </a:prstGeom>
          <a:noFill/>
          <a:ln>
            <a:noFill/>
          </a:ln>
        </p:spPr>
        <p:txBody>
          <a:bodyPr spcFirstLastPara="1" wrap="square" lIns="0" tIns="12850" rIns="0" bIns="0" anchor="t" anchorCtr="0">
            <a:spAutoFit/>
          </a:bodyPr>
          <a:lstStyle/>
          <a:p>
            <a:pPr marL="96581" lvl="0" indent="0" algn="l" rtl="0">
              <a:lnSpc>
                <a:spcPct val="100000"/>
              </a:lnSpc>
              <a:spcBef>
                <a:spcPts val="0"/>
              </a:spcBef>
              <a:spcAft>
                <a:spcPts val="0"/>
              </a:spcAft>
              <a:buNone/>
            </a:pPr>
            <a:r>
              <a:rPr lang="en-US" sz="676" b="1" dirty="0">
                <a:solidFill>
                  <a:srgbClr val="2A3345"/>
                </a:solidFill>
                <a:latin typeface="Tahoma"/>
                <a:ea typeface="Tahoma"/>
                <a:cs typeface="Tahoma"/>
                <a:sym typeface="Tahoma"/>
              </a:rPr>
              <a:t>DBMS </a:t>
            </a:r>
            <a:r>
              <a:rPr lang="en-US" sz="676" dirty="0">
                <a:solidFill>
                  <a:srgbClr val="2A3345"/>
                </a:solidFill>
                <a:latin typeface="Tahoma"/>
                <a:ea typeface="Tahoma"/>
                <a:cs typeface="Tahoma"/>
                <a:sym typeface="Tahoma"/>
              </a:rPr>
              <a:t>— </a:t>
            </a:r>
            <a:r>
              <a:rPr lang="en-US" sz="676" dirty="0" err="1">
                <a:solidFill>
                  <a:srgbClr val="2A3345"/>
                </a:solidFill>
                <a:latin typeface="Tahoma"/>
                <a:ea typeface="Tahoma"/>
                <a:cs typeface="Tahoma"/>
                <a:sym typeface="Tahoma"/>
              </a:rPr>
              <a:t>MySql</a:t>
            </a:r>
            <a:endParaRPr sz="676" dirty="0">
              <a:latin typeface="Tahoma"/>
              <a:ea typeface="Tahoma"/>
              <a:cs typeface="Tahoma"/>
              <a:sym typeface="Tahoma"/>
            </a:endParaRPr>
          </a:p>
          <a:p>
            <a:pPr marL="96581" lvl="0" indent="0" algn="l" rtl="0">
              <a:lnSpc>
                <a:spcPct val="100000"/>
              </a:lnSpc>
              <a:spcBef>
                <a:spcPts val="954"/>
              </a:spcBef>
              <a:spcAft>
                <a:spcPts val="0"/>
              </a:spcAft>
              <a:buNone/>
            </a:pPr>
            <a:r>
              <a:rPr lang="en-US" sz="676" b="1" dirty="0">
                <a:solidFill>
                  <a:srgbClr val="2A3345"/>
                </a:solidFill>
                <a:latin typeface="Tahoma"/>
                <a:ea typeface="Tahoma"/>
                <a:cs typeface="Tahoma"/>
                <a:sym typeface="Tahoma"/>
              </a:rPr>
              <a:t>Software Engineering </a:t>
            </a:r>
            <a:r>
              <a:rPr lang="en-US" sz="676" dirty="0">
                <a:solidFill>
                  <a:srgbClr val="2A3345"/>
                </a:solidFill>
                <a:latin typeface="Tahoma"/>
                <a:ea typeface="Tahoma"/>
                <a:cs typeface="Tahoma"/>
                <a:sym typeface="Tahoma"/>
              </a:rPr>
              <a:t>— modular design, monitoring &amp; telemetry integration</a:t>
            </a:r>
            <a:endParaRPr sz="676" dirty="0">
              <a:latin typeface="Tahoma"/>
              <a:ea typeface="Tahoma"/>
              <a:cs typeface="Tahoma"/>
              <a:sym typeface="Tahoma"/>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pSp>
        <p:nvGrpSpPr>
          <p:cNvPr id="179" name="Google Shape;179;p13"/>
          <p:cNvGrpSpPr/>
          <p:nvPr/>
        </p:nvGrpSpPr>
        <p:grpSpPr>
          <a:xfrm>
            <a:off x="5399392" y="72605"/>
            <a:ext cx="223520" cy="223520"/>
            <a:chOff x="5399392" y="72605"/>
            <a:chExt cx="223520" cy="223520"/>
          </a:xfrm>
        </p:grpSpPr>
        <p:sp>
          <p:nvSpPr>
            <p:cNvPr id="180" name="Google Shape;180;p13"/>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81" name="Google Shape;181;p13"/>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82" name="Google Shape;182;p13" descr="$PPTXTitle"/>
          <p:cNvSpPr txBox="1">
            <a:spLocks noGrp="1"/>
          </p:cNvSpPr>
          <p:nvPr>
            <p:ph type="title"/>
          </p:nvPr>
        </p:nvSpPr>
        <p:spPr>
          <a:xfrm>
            <a:off x="347294" y="302841"/>
            <a:ext cx="37860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dirty="0"/>
              <a:t>System Architecture</a:t>
            </a:r>
            <a:endParaRPr dirty="0"/>
          </a:p>
        </p:txBody>
      </p:sp>
      <p:sp>
        <p:nvSpPr>
          <p:cNvPr id="183" name="Google Shape;183;p13"/>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86" name="Google Shape;186;p13"/>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14" name="Rectangle 13">
            <a:extLst>
              <a:ext uri="{FF2B5EF4-FFF2-40B4-BE49-F238E27FC236}">
                <a16:creationId xmlns:a16="http://schemas.microsoft.com/office/drawing/2014/main" id="{3E943328-2A9C-BFE9-F7F2-9C58978668E8}"/>
              </a:ext>
            </a:extLst>
          </p:cNvPr>
          <p:cNvSpPr/>
          <p:nvPr/>
        </p:nvSpPr>
        <p:spPr>
          <a:xfrm>
            <a:off x="2683483" y="727365"/>
            <a:ext cx="1201783" cy="261680"/>
          </a:xfrm>
          <a:prstGeom prst="rect">
            <a:avLst/>
          </a:prstGeom>
          <a:solidFill>
            <a:srgbClr val="FAFC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0ECA54BF-FB3E-8AC3-7DCE-3D1D218DB9E9}"/>
              </a:ext>
            </a:extLst>
          </p:cNvPr>
          <p:cNvPicPr>
            <a:picLocks noChangeAspect="1"/>
          </p:cNvPicPr>
          <p:nvPr/>
        </p:nvPicPr>
        <p:blipFill>
          <a:blip r:embed="rId4"/>
          <a:srcRect t="9882"/>
          <a:stretch>
            <a:fillRect/>
          </a:stretch>
        </p:blipFill>
        <p:spPr>
          <a:xfrm>
            <a:off x="0" y="821404"/>
            <a:ext cx="5667477" cy="2306711"/>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grpSp>
        <p:nvGrpSpPr>
          <p:cNvPr id="234" name="Google Shape;234;p14"/>
          <p:cNvGrpSpPr/>
          <p:nvPr/>
        </p:nvGrpSpPr>
        <p:grpSpPr>
          <a:xfrm>
            <a:off x="5399392" y="72605"/>
            <a:ext cx="223520" cy="223520"/>
            <a:chOff x="5399392" y="72605"/>
            <a:chExt cx="223520" cy="223520"/>
          </a:xfrm>
        </p:grpSpPr>
        <p:sp>
          <p:nvSpPr>
            <p:cNvPr id="235" name="Google Shape;235;p14"/>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6" name="Google Shape;236;p14"/>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37" name="Google Shape;237;p14"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Technology Stack &amp; Methodology</a:t>
            </a:r>
            <a:endParaRPr/>
          </a:p>
        </p:txBody>
      </p:sp>
      <p:sp>
        <p:nvSpPr>
          <p:cNvPr id="238" name="Google Shape;238;p14"/>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dirty="0"/>
          </a:p>
        </p:txBody>
      </p:sp>
      <p:pic>
        <p:nvPicPr>
          <p:cNvPr id="241" name="Google Shape;241;p14"/>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42" name="Google Shape;242;p14"/>
          <p:cNvSpPr/>
          <p:nvPr/>
        </p:nvSpPr>
        <p:spPr>
          <a:xfrm>
            <a:off x="423575" y="870050"/>
            <a:ext cx="2131338" cy="1881188"/>
          </a:xfrm>
          <a:custGeom>
            <a:avLst/>
            <a:gdLst/>
            <a:ahLst/>
            <a:cxnLst/>
            <a:rect l="l" t="t" r="r" b="b"/>
            <a:pathLst>
              <a:path w="5572125" h="4762500" extrusionOk="0">
                <a:moveTo>
                  <a:pt x="5465329" y="4762494"/>
                </a:moveTo>
                <a:lnTo>
                  <a:pt x="106794" y="4762494"/>
                </a:lnTo>
                <a:lnTo>
                  <a:pt x="99362" y="4761760"/>
                </a:lnTo>
                <a:lnTo>
                  <a:pt x="57038" y="4747398"/>
                </a:lnTo>
                <a:lnTo>
                  <a:pt x="23432" y="4717935"/>
                </a:lnTo>
                <a:lnTo>
                  <a:pt x="3660" y="4677853"/>
                </a:lnTo>
                <a:lnTo>
                  <a:pt x="0" y="4655701"/>
                </a:lnTo>
                <a:lnTo>
                  <a:pt x="0" y="4648199"/>
                </a:lnTo>
                <a:lnTo>
                  <a:pt x="0" y="106793"/>
                </a:lnTo>
                <a:lnTo>
                  <a:pt x="11572" y="63619"/>
                </a:lnTo>
                <a:lnTo>
                  <a:pt x="38784" y="28165"/>
                </a:lnTo>
                <a:lnTo>
                  <a:pt x="77493" y="5822"/>
                </a:lnTo>
                <a:lnTo>
                  <a:pt x="106794" y="0"/>
                </a:lnTo>
                <a:lnTo>
                  <a:pt x="5465329" y="0"/>
                </a:lnTo>
                <a:lnTo>
                  <a:pt x="5508498" y="11567"/>
                </a:lnTo>
                <a:lnTo>
                  <a:pt x="5543953" y="38779"/>
                </a:lnTo>
                <a:lnTo>
                  <a:pt x="5566295" y="77488"/>
                </a:lnTo>
                <a:lnTo>
                  <a:pt x="5572124" y="106793"/>
                </a:lnTo>
                <a:lnTo>
                  <a:pt x="5572124" y="4655701"/>
                </a:lnTo>
                <a:lnTo>
                  <a:pt x="5560551" y="4698870"/>
                </a:lnTo>
                <a:lnTo>
                  <a:pt x="5533339" y="4734324"/>
                </a:lnTo>
                <a:lnTo>
                  <a:pt x="5494631" y="4756662"/>
                </a:lnTo>
                <a:lnTo>
                  <a:pt x="5472762" y="4761760"/>
                </a:lnTo>
                <a:lnTo>
                  <a:pt x="5465329" y="476249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738"/>
          </a:p>
        </p:txBody>
      </p:sp>
      <p:sp>
        <p:nvSpPr>
          <p:cNvPr id="243" name="Google Shape;243;p14"/>
          <p:cNvSpPr txBox="1"/>
          <p:nvPr/>
        </p:nvSpPr>
        <p:spPr>
          <a:xfrm>
            <a:off x="499150" y="1085013"/>
            <a:ext cx="1262400" cy="1302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r>
              <a:rPr lang="en-US" sz="804" b="1" dirty="0">
                <a:solidFill>
                  <a:srgbClr val="1F3764"/>
                </a:solidFill>
                <a:latin typeface="Tahoma"/>
                <a:ea typeface="Tahoma"/>
                <a:cs typeface="Tahoma"/>
                <a:sym typeface="Tahoma"/>
              </a:rPr>
              <a:t>TECHNOLOGY STACK</a:t>
            </a:r>
            <a:endParaRPr sz="804" dirty="0">
              <a:latin typeface="Tahoma"/>
              <a:ea typeface="Tahoma"/>
              <a:cs typeface="Tahoma"/>
              <a:sym typeface="Tahoma"/>
            </a:endParaRPr>
          </a:p>
        </p:txBody>
      </p:sp>
      <p:sp>
        <p:nvSpPr>
          <p:cNvPr id="244" name="Google Shape;244;p14"/>
          <p:cNvSpPr txBox="1"/>
          <p:nvPr/>
        </p:nvSpPr>
        <p:spPr>
          <a:xfrm>
            <a:off x="507406" y="1327419"/>
            <a:ext cx="33900" cy="729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5" name="Google Shape;245;p14"/>
          <p:cNvSpPr txBox="1"/>
          <p:nvPr/>
        </p:nvSpPr>
        <p:spPr>
          <a:xfrm>
            <a:off x="526000" y="1187400"/>
            <a:ext cx="33900" cy="72900"/>
          </a:xfrm>
          <a:prstGeom prst="rect">
            <a:avLst/>
          </a:prstGeom>
          <a:noFill/>
          <a:ln>
            <a:noFill/>
          </a:ln>
        </p:spPr>
        <p:txBody>
          <a:bodyPr spcFirstLastPara="1" wrap="square" lIns="0" tIns="6575" rIns="0" bIns="0" anchor="t" anchorCtr="0">
            <a:spAutoFit/>
          </a:bodyPr>
          <a:lstStyle/>
          <a:p>
            <a:pPr marL="0" lvl="0" indent="0" algn="l" rtl="0">
              <a:lnSpc>
                <a:spcPct val="100000"/>
              </a:lnSpc>
              <a:spcBef>
                <a:spcPts val="0"/>
              </a:spcBef>
              <a:spcAft>
                <a:spcPts val="0"/>
              </a:spcAft>
              <a:buNone/>
            </a:pPr>
            <a:endParaRPr sz="431">
              <a:solidFill>
                <a:srgbClr val="1F3764"/>
              </a:solidFill>
              <a:latin typeface="Lucida Sans"/>
              <a:ea typeface="Lucida Sans"/>
              <a:cs typeface="Lucida Sans"/>
              <a:sym typeface="Lucida Sans"/>
            </a:endParaRPr>
          </a:p>
        </p:txBody>
      </p:sp>
      <p:sp>
        <p:nvSpPr>
          <p:cNvPr id="246" name="Google Shape;246;p14"/>
          <p:cNvSpPr txBox="1"/>
          <p:nvPr/>
        </p:nvSpPr>
        <p:spPr>
          <a:xfrm>
            <a:off x="499150" y="1480675"/>
            <a:ext cx="75000" cy="72900"/>
          </a:xfrm>
          <a:prstGeom prst="rect">
            <a:avLst/>
          </a:prstGeom>
          <a:noFill/>
          <a:ln>
            <a:noFill/>
          </a:ln>
        </p:spPr>
        <p:txBody>
          <a:bodyPr spcFirstLastPara="1" wrap="square" lIns="0" tIns="6575" rIns="0" bIns="0" anchor="t" anchorCtr="0">
            <a:spAutoFit/>
          </a:bodyPr>
          <a:lstStyle/>
          <a:p>
            <a:pPr marL="4881"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7" name="Google Shape;247;p14"/>
          <p:cNvSpPr txBox="1"/>
          <p:nvPr/>
        </p:nvSpPr>
        <p:spPr>
          <a:xfrm>
            <a:off x="499156" y="1803982"/>
            <a:ext cx="33900" cy="72900"/>
          </a:xfrm>
          <a:prstGeom prst="rect">
            <a:avLst/>
          </a:prstGeom>
          <a:noFill/>
          <a:ln>
            <a:noFill/>
          </a:ln>
        </p:spPr>
        <p:txBody>
          <a:bodyPr spcFirstLastPara="1" wrap="square" lIns="0" tIns="6575" rIns="0" bIns="0" anchor="t" anchorCtr="0">
            <a:spAutoFit/>
          </a:bodyPr>
          <a:lstStyle/>
          <a:p>
            <a:pPr marL="0" lvl="0" indent="0" algn="l" rtl="0">
              <a:lnSpc>
                <a:spcPct val="100000"/>
              </a:lnSpc>
              <a:spcBef>
                <a:spcPts val="0"/>
              </a:spcBef>
              <a:spcAft>
                <a:spcPts val="0"/>
              </a:spcAft>
              <a:buNone/>
            </a:pPr>
            <a:endParaRPr sz="431">
              <a:latin typeface="Lucida Sans"/>
              <a:ea typeface="Lucida Sans"/>
              <a:cs typeface="Lucida Sans"/>
              <a:sym typeface="Lucida Sans"/>
            </a:endParaRPr>
          </a:p>
        </p:txBody>
      </p:sp>
      <p:sp>
        <p:nvSpPr>
          <p:cNvPr id="248" name="Google Shape;248;p14"/>
          <p:cNvSpPr txBox="1"/>
          <p:nvPr/>
        </p:nvSpPr>
        <p:spPr>
          <a:xfrm>
            <a:off x="347294" y="1260300"/>
            <a:ext cx="2262300" cy="775200"/>
          </a:xfrm>
          <a:prstGeom prst="rect">
            <a:avLst/>
          </a:prstGeom>
          <a:noFill/>
          <a:ln>
            <a:noFill/>
          </a:ln>
        </p:spPr>
        <p:txBody>
          <a:bodyPr spcFirstLastPara="1" wrap="square" lIns="0" tIns="33925" rIns="0" bIns="0" anchor="t" anchorCtr="0">
            <a:noAutofit/>
          </a:bodyPr>
          <a:lstStyle/>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Programming: Java</a:t>
            </a:r>
            <a:endParaRPr sz="650" dirty="0">
              <a:latin typeface="Tahoma"/>
              <a:ea typeface="Tahoma"/>
              <a:cs typeface="Tahoma"/>
              <a:sym typeface="Tahoma"/>
            </a:endParaRPr>
          </a:p>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Database: </a:t>
            </a:r>
            <a:r>
              <a:rPr lang="en-US" sz="650" b="1" dirty="0" err="1">
                <a:solidFill>
                  <a:srgbClr val="2A3345"/>
                </a:solidFill>
                <a:latin typeface="Tahoma"/>
                <a:ea typeface="Tahoma"/>
                <a:cs typeface="Tahoma"/>
                <a:sym typeface="Tahoma"/>
              </a:rPr>
              <a:t>MySql</a:t>
            </a:r>
            <a:endParaRPr sz="650" dirty="0">
              <a:solidFill>
                <a:srgbClr val="2A3345"/>
              </a:solidFill>
              <a:latin typeface="Tahoma"/>
              <a:ea typeface="Tahoma"/>
              <a:cs typeface="Tahoma"/>
              <a:sym typeface="Tahoma"/>
            </a:endParaRPr>
          </a:p>
          <a:p>
            <a:pPr marL="457200" marR="1952"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Tools / Framework: </a:t>
            </a:r>
            <a:r>
              <a:rPr lang="en-US" sz="650" dirty="0">
                <a:solidFill>
                  <a:srgbClr val="2A3345"/>
                </a:solidFill>
                <a:latin typeface="Tahoma"/>
                <a:ea typeface="Tahoma"/>
                <a:cs typeface="Tahoma"/>
                <a:sym typeface="Tahoma"/>
              </a:rPr>
              <a:t>Node.js / Express, React </a:t>
            </a:r>
            <a:endParaRPr sz="650" dirty="0">
              <a:solidFill>
                <a:srgbClr val="2A3345"/>
              </a:solidFill>
              <a:latin typeface="Tahoma"/>
              <a:ea typeface="Tahoma"/>
              <a:cs typeface="Tahoma"/>
              <a:sym typeface="Tahoma"/>
            </a:endParaRPr>
          </a:p>
          <a:p>
            <a:pPr marL="457200" marR="1952"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Monitoring:</a:t>
            </a:r>
            <a:r>
              <a:rPr lang="en-US" sz="650" dirty="0">
                <a:solidFill>
                  <a:srgbClr val="2A3345"/>
                </a:solidFill>
                <a:latin typeface="Tahoma"/>
                <a:ea typeface="Tahoma"/>
                <a:cs typeface="Tahoma"/>
                <a:sym typeface="Tahoma"/>
              </a:rPr>
              <a:t> WebSocket</a:t>
            </a:r>
          </a:p>
          <a:p>
            <a:pPr marL="457200" marR="1952" lvl="0" indent="-269875" algn="l" rtl="0">
              <a:lnSpc>
                <a:spcPct val="115000"/>
              </a:lnSpc>
              <a:spcBef>
                <a:spcPts val="0"/>
              </a:spcBef>
              <a:spcAft>
                <a:spcPts val="0"/>
              </a:spcAft>
              <a:buClr>
                <a:srgbClr val="2A3345"/>
              </a:buClr>
              <a:buSzPts val="650"/>
              <a:buFont typeface="Tahoma"/>
              <a:buChar char="●"/>
            </a:pPr>
            <a:r>
              <a:rPr lang="en-US" sz="650" dirty="0">
                <a:solidFill>
                  <a:srgbClr val="2A3345"/>
                </a:solidFill>
                <a:latin typeface="Tahoma"/>
                <a:ea typeface="Tahoma"/>
                <a:cs typeface="Tahoma"/>
                <a:sym typeface="Tahoma"/>
              </a:rPr>
              <a:t> </a:t>
            </a:r>
            <a:r>
              <a:rPr lang="en-US" sz="650" b="1" dirty="0">
                <a:solidFill>
                  <a:srgbClr val="2A3345"/>
                </a:solidFill>
                <a:latin typeface="Tahoma"/>
                <a:ea typeface="Tahoma"/>
                <a:cs typeface="Tahoma"/>
                <a:sym typeface="Tahoma"/>
              </a:rPr>
              <a:t>Backend: Spring Boot</a:t>
            </a:r>
            <a:endParaRPr sz="650" dirty="0">
              <a:latin typeface="Tahoma"/>
              <a:ea typeface="Tahoma"/>
              <a:cs typeface="Tahoma"/>
              <a:sym typeface="Tahoma"/>
            </a:endParaRPr>
          </a:p>
          <a:p>
            <a:pPr marL="457200" lvl="0" indent="-269875" algn="l" rtl="0">
              <a:lnSpc>
                <a:spcPct val="115000"/>
              </a:lnSpc>
              <a:spcBef>
                <a:spcPts val="0"/>
              </a:spcBef>
              <a:spcAft>
                <a:spcPts val="0"/>
              </a:spcAft>
              <a:buClr>
                <a:srgbClr val="2A3345"/>
              </a:buClr>
              <a:buSzPts val="650"/>
              <a:buFont typeface="Tahoma"/>
              <a:buChar char="●"/>
            </a:pPr>
            <a:r>
              <a:rPr lang="en-US" sz="650" b="1" dirty="0">
                <a:solidFill>
                  <a:srgbClr val="2A3345"/>
                </a:solidFill>
                <a:latin typeface="Tahoma"/>
                <a:ea typeface="Tahoma"/>
                <a:cs typeface="Tahoma"/>
                <a:sym typeface="Tahoma"/>
              </a:rPr>
              <a:t>Version Control: </a:t>
            </a:r>
            <a:r>
              <a:rPr lang="en-US" sz="650" dirty="0">
                <a:solidFill>
                  <a:srgbClr val="2A3345"/>
                </a:solidFill>
                <a:latin typeface="Tahoma"/>
                <a:ea typeface="Tahoma"/>
                <a:cs typeface="Tahoma"/>
                <a:sym typeface="Tahoma"/>
              </a:rPr>
              <a:t>Git / GitHub</a:t>
            </a:r>
          </a:p>
          <a:p>
            <a:pPr marL="457200" lvl="0" indent="-269875" algn="l" rtl="0">
              <a:lnSpc>
                <a:spcPct val="115000"/>
              </a:lnSpc>
              <a:spcBef>
                <a:spcPts val="0"/>
              </a:spcBef>
              <a:spcAft>
                <a:spcPts val="0"/>
              </a:spcAft>
              <a:buClr>
                <a:srgbClr val="2A3345"/>
              </a:buClr>
              <a:buSzPts val="650"/>
              <a:buFont typeface="Tahoma"/>
              <a:buChar char="●"/>
            </a:pPr>
            <a:r>
              <a:rPr lang="en-US" sz="650" dirty="0">
                <a:solidFill>
                  <a:srgbClr val="2A3345"/>
                </a:solidFill>
                <a:latin typeface="Tahoma"/>
                <a:ea typeface="Tahoma"/>
                <a:cs typeface="Tahoma"/>
                <a:sym typeface="Tahoma"/>
              </a:rPr>
              <a:t>To be decided further</a:t>
            </a:r>
            <a:endParaRPr sz="650" dirty="0">
              <a:latin typeface="Tahoma"/>
              <a:ea typeface="Tahoma"/>
              <a:cs typeface="Tahoma"/>
              <a:sym typeface="Tahoma"/>
            </a:endParaRPr>
          </a:p>
        </p:txBody>
      </p:sp>
      <p:sp>
        <p:nvSpPr>
          <p:cNvPr id="249" name="Google Shape;249;p14"/>
          <p:cNvSpPr/>
          <p:nvPr/>
        </p:nvSpPr>
        <p:spPr>
          <a:xfrm>
            <a:off x="2716700" y="870175"/>
            <a:ext cx="2981087" cy="1881188"/>
          </a:xfrm>
          <a:custGeom>
            <a:avLst/>
            <a:gdLst/>
            <a:ahLst/>
            <a:cxnLst/>
            <a:rect l="l" t="t" r="r" b="b"/>
            <a:pathLst>
              <a:path w="5572125" h="4762500" extrusionOk="0">
                <a:moveTo>
                  <a:pt x="5465328" y="4762494"/>
                </a:moveTo>
                <a:lnTo>
                  <a:pt x="106795" y="4762494"/>
                </a:lnTo>
                <a:lnTo>
                  <a:pt x="99361" y="4761760"/>
                </a:lnTo>
                <a:lnTo>
                  <a:pt x="57037" y="4747398"/>
                </a:lnTo>
                <a:lnTo>
                  <a:pt x="23432" y="4717935"/>
                </a:lnTo>
                <a:lnTo>
                  <a:pt x="3660" y="4677853"/>
                </a:lnTo>
                <a:lnTo>
                  <a:pt x="0" y="4655701"/>
                </a:lnTo>
                <a:lnTo>
                  <a:pt x="0" y="4648199"/>
                </a:lnTo>
                <a:lnTo>
                  <a:pt x="0" y="106793"/>
                </a:lnTo>
                <a:lnTo>
                  <a:pt x="11572" y="63619"/>
                </a:lnTo>
                <a:lnTo>
                  <a:pt x="38784" y="28165"/>
                </a:lnTo>
                <a:lnTo>
                  <a:pt x="77492" y="5822"/>
                </a:lnTo>
                <a:lnTo>
                  <a:pt x="106795" y="0"/>
                </a:lnTo>
                <a:lnTo>
                  <a:pt x="5465328" y="0"/>
                </a:lnTo>
                <a:lnTo>
                  <a:pt x="5508498" y="11567"/>
                </a:lnTo>
                <a:lnTo>
                  <a:pt x="5543953" y="38779"/>
                </a:lnTo>
                <a:lnTo>
                  <a:pt x="5566295" y="77488"/>
                </a:lnTo>
                <a:lnTo>
                  <a:pt x="5572124" y="106793"/>
                </a:lnTo>
                <a:lnTo>
                  <a:pt x="5572124" y="4655701"/>
                </a:lnTo>
                <a:lnTo>
                  <a:pt x="5560550" y="4698870"/>
                </a:lnTo>
                <a:lnTo>
                  <a:pt x="5533338" y="4734324"/>
                </a:lnTo>
                <a:lnTo>
                  <a:pt x="5494630" y="4756662"/>
                </a:lnTo>
                <a:lnTo>
                  <a:pt x="5472762" y="4761760"/>
                </a:lnTo>
                <a:lnTo>
                  <a:pt x="5465328" y="4762494"/>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1266"/>
          </a:p>
        </p:txBody>
      </p:sp>
      <p:sp>
        <p:nvSpPr>
          <p:cNvPr id="250" name="Google Shape;250;p14"/>
          <p:cNvSpPr txBox="1"/>
          <p:nvPr/>
        </p:nvSpPr>
        <p:spPr>
          <a:xfrm>
            <a:off x="2879991" y="953345"/>
            <a:ext cx="3947100" cy="1030643"/>
          </a:xfrm>
          <a:prstGeom prst="rect">
            <a:avLst/>
          </a:prstGeom>
          <a:noFill/>
          <a:ln>
            <a:noFill/>
          </a:ln>
        </p:spPr>
        <p:txBody>
          <a:bodyPr spcFirstLastPara="1" wrap="square" lIns="0" tIns="99925" rIns="0" bIns="0" anchor="t" anchorCtr="0">
            <a:spAutoFit/>
          </a:bodyPr>
          <a:lstStyle/>
          <a:p>
            <a:pPr marL="11487" lvl="0" indent="0" algn="l" rtl="0">
              <a:lnSpc>
                <a:spcPct val="100000"/>
              </a:lnSpc>
              <a:spcBef>
                <a:spcPts val="0"/>
              </a:spcBef>
              <a:spcAft>
                <a:spcPts val="0"/>
              </a:spcAft>
              <a:buNone/>
            </a:pPr>
            <a:r>
              <a:rPr lang="en-US" sz="850" b="1" dirty="0">
                <a:solidFill>
                  <a:srgbClr val="1F3764"/>
                </a:solidFill>
                <a:latin typeface="Tahoma"/>
                <a:ea typeface="Tahoma"/>
                <a:cs typeface="Tahoma"/>
                <a:sym typeface="Tahoma"/>
              </a:rPr>
              <a:t>DEVELOPMENT METHODOLOGY</a:t>
            </a:r>
            <a:endParaRPr sz="850" b="1" dirty="0">
              <a:solidFill>
                <a:srgbClr val="1F3764"/>
              </a:solidFill>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Requirement Analysis </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System Design </a:t>
            </a:r>
            <a:endParaRPr lang="en-US" sz="650" dirty="0">
              <a:solidFill>
                <a:srgbClr val="2A3345"/>
              </a:solidFill>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Implementation</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Testing</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a:p>
            <a:pPr marL="215958" lvl="0" indent="-188311" algn="l" rtl="0">
              <a:lnSpc>
                <a:spcPct val="70000"/>
              </a:lnSpc>
              <a:spcBef>
                <a:spcPts val="669"/>
              </a:spcBef>
              <a:spcAft>
                <a:spcPts val="0"/>
              </a:spcAft>
              <a:buClr>
                <a:srgbClr val="1F3764"/>
              </a:buClr>
              <a:buSzPts val="650"/>
              <a:buFont typeface="Tahoma"/>
              <a:buAutoNum type="arabicPeriod"/>
            </a:pPr>
            <a:r>
              <a:rPr lang="en-US" sz="650" b="1" dirty="0">
                <a:solidFill>
                  <a:srgbClr val="2A3345"/>
                </a:solidFill>
                <a:latin typeface="Tahoma"/>
                <a:ea typeface="Tahoma"/>
                <a:cs typeface="Tahoma"/>
                <a:sym typeface="Tahoma"/>
              </a:rPr>
              <a:t>Evaluation </a:t>
            </a:r>
            <a:r>
              <a:rPr lang="en-US" sz="650" dirty="0">
                <a:solidFill>
                  <a:srgbClr val="2A3345"/>
                </a:solidFill>
                <a:latin typeface="Tahoma"/>
                <a:ea typeface="Tahoma"/>
                <a:cs typeface="Tahoma"/>
                <a:sym typeface="Tahoma"/>
              </a:rPr>
              <a:t>.</a:t>
            </a:r>
            <a:endParaRPr sz="650" dirty="0">
              <a:latin typeface="Tahoma"/>
              <a:ea typeface="Tahoma"/>
              <a:cs typeface="Tahoma"/>
              <a:sym typeface="Tahoma"/>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grpSp>
        <p:nvGrpSpPr>
          <p:cNvPr id="255" name="Google Shape;255;p15"/>
          <p:cNvGrpSpPr/>
          <p:nvPr/>
        </p:nvGrpSpPr>
        <p:grpSpPr>
          <a:xfrm>
            <a:off x="5399392" y="72605"/>
            <a:ext cx="223520" cy="223520"/>
            <a:chOff x="5399392" y="72605"/>
            <a:chExt cx="223520" cy="223520"/>
          </a:xfrm>
        </p:grpSpPr>
        <p:sp>
          <p:nvSpPr>
            <p:cNvPr id="256" name="Google Shape;256;p15"/>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7" name="Google Shape;257;p15"/>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58" name="Google Shape;258;p15" descr="$PPTXTitle"/>
          <p:cNvSpPr txBox="1">
            <a:spLocks noGrp="1"/>
          </p:cNvSpPr>
          <p:nvPr>
            <p:ph type="title"/>
          </p:nvPr>
        </p:nvSpPr>
        <p:spPr>
          <a:xfrm>
            <a:off x="347294" y="302841"/>
            <a:ext cx="3785870" cy="24447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Initial Progress &amp; Team Contribution</a:t>
            </a:r>
            <a:endParaRPr/>
          </a:p>
        </p:txBody>
      </p:sp>
      <p:sp>
        <p:nvSpPr>
          <p:cNvPr id="259" name="Google Shape;259;p15"/>
          <p:cNvSpPr/>
          <p:nvPr/>
        </p:nvSpPr>
        <p:spPr>
          <a:xfrm>
            <a:off x="359994" y="678522"/>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2" name="Google Shape;262;p15"/>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63" name="Google Shape;263;p15"/>
          <p:cNvSpPr/>
          <p:nvPr/>
        </p:nvSpPr>
        <p:spPr>
          <a:xfrm>
            <a:off x="347300" y="809725"/>
            <a:ext cx="2040041" cy="2036921"/>
          </a:xfrm>
          <a:custGeom>
            <a:avLst/>
            <a:gdLst/>
            <a:ahLst/>
            <a:cxnLst/>
            <a:rect l="l" t="t" r="r" b="b"/>
            <a:pathLst>
              <a:path w="4886325" h="4476750" extrusionOk="0">
                <a:moveTo>
                  <a:pt x="4779529" y="4476749"/>
                </a:moveTo>
                <a:lnTo>
                  <a:pt x="106794" y="4476749"/>
                </a:lnTo>
                <a:lnTo>
                  <a:pt x="99362" y="4476019"/>
                </a:lnTo>
                <a:lnTo>
                  <a:pt x="57038" y="4461652"/>
                </a:lnTo>
                <a:lnTo>
                  <a:pt x="23432" y="4432185"/>
                </a:lnTo>
                <a:lnTo>
                  <a:pt x="3660" y="4392103"/>
                </a:lnTo>
                <a:lnTo>
                  <a:pt x="0" y="4369951"/>
                </a:lnTo>
                <a:lnTo>
                  <a:pt x="0" y="4362449"/>
                </a:lnTo>
                <a:lnTo>
                  <a:pt x="0" y="106793"/>
                </a:lnTo>
                <a:lnTo>
                  <a:pt x="11572" y="63614"/>
                </a:lnTo>
                <a:lnTo>
                  <a:pt x="38784" y="28165"/>
                </a:lnTo>
                <a:lnTo>
                  <a:pt x="77493" y="5827"/>
                </a:lnTo>
                <a:lnTo>
                  <a:pt x="106794" y="0"/>
                </a:lnTo>
                <a:lnTo>
                  <a:pt x="4779529" y="0"/>
                </a:lnTo>
                <a:lnTo>
                  <a:pt x="4822698" y="11567"/>
                </a:lnTo>
                <a:lnTo>
                  <a:pt x="4858153" y="38779"/>
                </a:lnTo>
                <a:lnTo>
                  <a:pt x="4880495" y="77483"/>
                </a:lnTo>
                <a:lnTo>
                  <a:pt x="4886324" y="106793"/>
                </a:lnTo>
                <a:lnTo>
                  <a:pt x="4886324" y="4369951"/>
                </a:lnTo>
                <a:lnTo>
                  <a:pt x="4874750" y="4413120"/>
                </a:lnTo>
                <a:lnTo>
                  <a:pt x="4847539" y="4448574"/>
                </a:lnTo>
                <a:lnTo>
                  <a:pt x="4808830" y="4470922"/>
                </a:lnTo>
                <a:lnTo>
                  <a:pt x="4786962" y="4476019"/>
                </a:lnTo>
                <a:lnTo>
                  <a:pt x="4779529"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497"/>
          </a:p>
        </p:txBody>
      </p:sp>
      <p:sp>
        <p:nvSpPr>
          <p:cNvPr id="264" name="Google Shape;264;p15"/>
          <p:cNvSpPr txBox="1"/>
          <p:nvPr/>
        </p:nvSpPr>
        <p:spPr>
          <a:xfrm>
            <a:off x="387676" y="877100"/>
            <a:ext cx="1084500" cy="1098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673" b="1">
                <a:solidFill>
                  <a:srgbClr val="1F3764"/>
                </a:solidFill>
                <a:latin typeface="Tahoma"/>
                <a:ea typeface="Tahoma"/>
                <a:cs typeface="Tahoma"/>
                <a:sym typeface="Tahoma"/>
              </a:rPr>
              <a:t>PROGRESS ACHIEVED</a:t>
            </a:r>
            <a:endParaRPr sz="673">
              <a:latin typeface="Tahoma"/>
              <a:ea typeface="Tahoma"/>
              <a:cs typeface="Tahoma"/>
              <a:sym typeface="Tahoma"/>
            </a:endParaRPr>
          </a:p>
        </p:txBody>
      </p:sp>
      <p:sp>
        <p:nvSpPr>
          <p:cNvPr id="265" name="Google Shape;265;p15"/>
          <p:cNvSpPr txBox="1"/>
          <p:nvPr/>
        </p:nvSpPr>
        <p:spPr>
          <a:xfrm>
            <a:off x="369633" y="1108035"/>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6" name="Google Shape;266;p15"/>
          <p:cNvSpPr txBox="1"/>
          <p:nvPr/>
        </p:nvSpPr>
        <p:spPr>
          <a:xfrm>
            <a:off x="369633" y="1242091"/>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7" name="Google Shape;267;p15"/>
          <p:cNvSpPr txBox="1"/>
          <p:nvPr/>
        </p:nvSpPr>
        <p:spPr>
          <a:xfrm>
            <a:off x="369633" y="1373048"/>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68" name="Google Shape;268;p15"/>
          <p:cNvSpPr txBox="1"/>
          <p:nvPr/>
        </p:nvSpPr>
        <p:spPr>
          <a:xfrm>
            <a:off x="453175" y="1101250"/>
            <a:ext cx="1884000" cy="552013"/>
          </a:xfrm>
          <a:prstGeom prst="rect">
            <a:avLst/>
          </a:prstGeom>
          <a:noFill/>
          <a:ln>
            <a:noFill/>
          </a:ln>
        </p:spPr>
        <p:txBody>
          <a:bodyPr spcFirstLastPara="1" wrap="square" lIns="0" tIns="5400" rIns="0" bIns="0" anchor="t" anchorCtr="0">
            <a:spAutoFit/>
          </a:bodyPr>
          <a:lstStyle/>
          <a:p>
            <a:pPr marL="4507" marR="1802" lvl="0" indent="0" algn="l" rtl="0">
              <a:lnSpc>
                <a:spcPct val="147900"/>
              </a:lnSpc>
              <a:spcBef>
                <a:spcPts val="0"/>
              </a:spcBef>
              <a:spcAft>
                <a:spcPts val="0"/>
              </a:spcAft>
              <a:buNone/>
            </a:pPr>
            <a:r>
              <a:rPr lang="en-US" sz="600" dirty="0">
                <a:solidFill>
                  <a:srgbClr val="2A3345"/>
                </a:solidFill>
                <a:latin typeface="Tahoma"/>
                <a:ea typeface="Tahoma"/>
                <a:cs typeface="Tahoma"/>
                <a:sym typeface="Tahoma"/>
              </a:rPr>
              <a:t>Study of java basic concepts completed</a:t>
            </a:r>
          </a:p>
          <a:p>
            <a:pPr marL="4507" marR="1802" lvl="0" indent="0" algn="l" rtl="0">
              <a:lnSpc>
                <a:spcPct val="147900"/>
              </a:lnSpc>
              <a:spcBef>
                <a:spcPts val="0"/>
              </a:spcBef>
              <a:spcAft>
                <a:spcPts val="0"/>
              </a:spcAft>
              <a:buNone/>
            </a:pPr>
            <a:r>
              <a:rPr lang="en-US" sz="600" dirty="0" err="1">
                <a:solidFill>
                  <a:srgbClr val="2A3345"/>
                </a:solidFill>
                <a:latin typeface="Tahoma"/>
                <a:ea typeface="Tahoma"/>
                <a:cs typeface="Tahoma"/>
                <a:sym typeface="Tahoma"/>
              </a:rPr>
              <a:t>Sql</a:t>
            </a:r>
            <a:r>
              <a:rPr lang="en-US" sz="600" dirty="0">
                <a:solidFill>
                  <a:srgbClr val="2A3345"/>
                </a:solidFill>
                <a:latin typeface="Tahoma"/>
                <a:ea typeface="Tahoma"/>
                <a:cs typeface="Tahoma"/>
                <a:sym typeface="Tahoma"/>
              </a:rPr>
              <a:t> database understanding. </a:t>
            </a:r>
            <a:r>
              <a:rPr lang="en-US" sz="600" b="1" dirty="0">
                <a:solidFill>
                  <a:srgbClr val="2A3345"/>
                </a:solidFill>
                <a:latin typeface="Tahoma"/>
                <a:ea typeface="Tahoma"/>
                <a:cs typeface="Tahoma"/>
                <a:sym typeface="Tahoma"/>
              </a:rPr>
              <a:t>System architecture </a:t>
            </a:r>
            <a:r>
              <a:rPr lang="en-US" sz="600" dirty="0">
                <a:solidFill>
                  <a:srgbClr val="2A3345"/>
                </a:solidFill>
                <a:latin typeface="Tahoma"/>
                <a:ea typeface="Tahoma"/>
                <a:cs typeface="Tahoma"/>
                <a:sym typeface="Tahoma"/>
              </a:rPr>
              <a:t>designed (overflow control loop). </a:t>
            </a:r>
            <a:endParaRPr sz="600" dirty="0">
              <a:solidFill>
                <a:srgbClr val="2A3345"/>
              </a:solidFill>
              <a:latin typeface="Tahoma"/>
              <a:ea typeface="Tahoma"/>
              <a:cs typeface="Tahoma"/>
              <a:sym typeface="Tahoma"/>
            </a:endParaRPr>
          </a:p>
          <a:p>
            <a:pPr marL="4507" marR="1802" lvl="0" indent="0" algn="l" rtl="0">
              <a:lnSpc>
                <a:spcPct val="147900"/>
              </a:lnSpc>
              <a:spcBef>
                <a:spcPts val="0"/>
              </a:spcBef>
              <a:spcAft>
                <a:spcPts val="0"/>
              </a:spcAft>
              <a:buNone/>
            </a:pPr>
            <a:r>
              <a:rPr lang="en-US" sz="600" b="1" dirty="0">
                <a:solidFill>
                  <a:srgbClr val="2A3345"/>
                </a:solidFill>
                <a:latin typeface="Tahoma"/>
                <a:ea typeface="Tahoma"/>
                <a:cs typeface="Tahoma"/>
                <a:sym typeface="Tahoma"/>
              </a:rPr>
              <a:t>Initial monitoring scaffolding </a:t>
            </a:r>
            <a:r>
              <a:rPr lang="en-US" sz="600" dirty="0">
                <a:solidFill>
                  <a:srgbClr val="2A3345"/>
                </a:solidFill>
                <a:latin typeface="Tahoma"/>
                <a:ea typeface="Tahoma"/>
                <a:cs typeface="Tahoma"/>
                <a:sym typeface="Tahoma"/>
              </a:rPr>
              <a:t>started.</a:t>
            </a:r>
            <a:endParaRPr sz="600" dirty="0">
              <a:latin typeface="Tahoma"/>
              <a:ea typeface="Tahoma"/>
              <a:cs typeface="Tahoma"/>
              <a:sym typeface="Tahoma"/>
            </a:endParaRPr>
          </a:p>
        </p:txBody>
      </p:sp>
      <p:sp>
        <p:nvSpPr>
          <p:cNvPr id="269" name="Google Shape;269;p15"/>
          <p:cNvSpPr txBox="1"/>
          <p:nvPr/>
        </p:nvSpPr>
        <p:spPr>
          <a:xfrm>
            <a:off x="369633" y="1638049"/>
            <a:ext cx="31200" cy="85200"/>
          </a:xfrm>
          <a:prstGeom prst="rect">
            <a:avLst/>
          </a:prstGeom>
          <a:noFill/>
          <a:ln>
            <a:noFill/>
          </a:ln>
        </p:spPr>
        <p:txBody>
          <a:bodyPr spcFirstLastPara="1" wrap="square" lIns="0" tIns="6075" rIns="0" bIns="0" anchor="t" anchorCtr="0">
            <a:spAutoFit/>
          </a:bodyPr>
          <a:lstStyle/>
          <a:p>
            <a:pPr marL="4507" lvl="0" indent="0" algn="l" rtl="0">
              <a:lnSpc>
                <a:spcPct val="100000"/>
              </a:lnSpc>
              <a:spcBef>
                <a:spcPts val="0"/>
              </a:spcBef>
              <a:spcAft>
                <a:spcPts val="0"/>
              </a:spcAft>
              <a:buNone/>
            </a:pPr>
            <a:r>
              <a:rPr lang="en-US" sz="513">
                <a:solidFill>
                  <a:srgbClr val="1F3764"/>
                </a:solidFill>
                <a:latin typeface="Lucida Sans"/>
                <a:ea typeface="Lucida Sans"/>
                <a:cs typeface="Lucida Sans"/>
                <a:sym typeface="Lucida Sans"/>
              </a:rPr>
              <a:t>▶</a:t>
            </a:r>
            <a:endParaRPr sz="513">
              <a:latin typeface="Lucida Sans"/>
              <a:ea typeface="Lucida Sans"/>
              <a:cs typeface="Lucida Sans"/>
              <a:sym typeface="Lucida Sans"/>
            </a:endParaRPr>
          </a:p>
        </p:txBody>
      </p:sp>
      <p:sp>
        <p:nvSpPr>
          <p:cNvPr id="270" name="Google Shape;270;p15"/>
          <p:cNvSpPr/>
          <p:nvPr/>
        </p:nvSpPr>
        <p:spPr>
          <a:xfrm>
            <a:off x="2528400" y="813200"/>
            <a:ext cx="3097673" cy="2036921"/>
          </a:xfrm>
          <a:custGeom>
            <a:avLst/>
            <a:gdLst/>
            <a:ahLst/>
            <a:cxnLst/>
            <a:rect l="l" t="t" r="r" b="b"/>
            <a:pathLst>
              <a:path w="6257925" h="4476750" extrusionOk="0">
                <a:moveTo>
                  <a:pt x="6151128" y="4476749"/>
                </a:moveTo>
                <a:lnTo>
                  <a:pt x="106794" y="4476749"/>
                </a:lnTo>
                <a:lnTo>
                  <a:pt x="99361" y="4476019"/>
                </a:lnTo>
                <a:lnTo>
                  <a:pt x="57037" y="4461652"/>
                </a:lnTo>
                <a:lnTo>
                  <a:pt x="23431" y="4432185"/>
                </a:lnTo>
                <a:lnTo>
                  <a:pt x="3659" y="4392103"/>
                </a:lnTo>
                <a:lnTo>
                  <a:pt x="0" y="4369951"/>
                </a:lnTo>
                <a:lnTo>
                  <a:pt x="0" y="4362449"/>
                </a:lnTo>
                <a:lnTo>
                  <a:pt x="0" y="106793"/>
                </a:lnTo>
                <a:lnTo>
                  <a:pt x="11571" y="63614"/>
                </a:lnTo>
                <a:lnTo>
                  <a:pt x="38783" y="28165"/>
                </a:lnTo>
                <a:lnTo>
                  <a:pt x="77492" y="5827"/>
                </a:lnTo>
                <a:lnTo>
                  <a:pt x="106794" y="0"/>
                </a:lnTo>
                <a:lnTo>
                  <a:pt x="6151128" y="0"/>
                </a:lnTo>
                <a:lnTo>
                  <a:pt x="6194298" y="11567"/>
                </a:lnTo>
                <a:lnTo>
                  <a:pt x="6229752" y="38779"/>
                </a:lnTo>
                <a:lnTo>
                  <a:pt x="6252095" y="77483"/>
                </a:lnTo>
                <a:lnTo>
                  <a:pt x="6257924" y="106793"/>
                </a:lnTo>
                <a:lnTo>
                  <a:pt x="6257924" y="4369951"/>
                </a:lnTo>
                <a:lnTo>
                  <a:pt x="6246350" y="4413120"/>
                </a:lnTo>
                <a:lnTo>
                  <a:pt x="6219138" y="4448574"/>
                </a:lnTo>
                <a:lnTo>
                  <a:pt x="6180430" y="4470922"/>
                </a:lnTo>
                <a:lnTo>
                  <a:pt x="6158561" y="4476019"/>
                </a:lnTo>
                <a:lnTo>
                  <a:pt x="6151128" y="4476749"/>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627"/>
          </a:p>
        </p:txBody>
      </p:sp>
      <p:sp>
        <p:nvSpPr>
          <p:cNvPr id="271" name="Google Shape;271;p15"/>
          <p:cNvSpPr txBox="1"/>
          <p:nvPr/>
        </p:nvSpPr>
        <p:spPr>
          <a:xfrm>
            <a:off x="2566520" y="877100"/>
            <a:ext cx="2014200" cy="178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050" b="1">
                <a:solidFill>
                  <a:srgbClr val="1F3764"/>
                </a:solidFill>
                <a:latin typeface="Tahoma"/>
                <a:ea typeface="Tahoma"/>
                <a:cs typeface="Tahoma"/>
                <a:sym typeface="Tahoma"/>
              </a:rPr>
              <a:t>INDIVIDUAL CONTRIBUTION</a:t>
            </a:r>
            <a:endParaRPr sz="1050">
              <a:latin typeface="Tahoma"/>
              <a:ea typeface="Tahoma"/>
              <a:cs typeface="Tahoma"/>
              <a:sym typeface="Tahoma"/>
            </a:endParaRPr>
          </a:p>
        </p:txBody>
      </p:sp>
      <p:graphicFrame>
        <p:nvGraphicFramePr>
          <p:cNvPr id="272" name="Google Shape;272;p15"/>
          <p:cNvGraphicFramePr/>
          <p:nvPr/>
        </p:nvGraphicFramePr>
        <p:xfrm>
          <a:off x="2566537" y="1108022"/>
          <a:ext cx="3025850" cy="173355"/>
        </p:xfrm>
        <a:graphic>
          <a:graphicData uri="http://schemas.openxmlformats.org/drawingml/2006/table">
            <a:tbl>
              <a:tblPr firstRow="1" bandRow="1">
                <a:noFill/>
                <a:tableStyleId>{9B9B8CC0-70B5-47AC-8B43-9C7E1B49E4FA}</a:tableStyleId>
              </a:tblPr>
              <a:tblGrid>
                <a:gridCol w="622050">
                  <a:extLst>
                    <a:ext uri="{9D8B030D-6E8A-4147-A177-3AD203B41FA5}">
                      <a16:colId xmlns:a16="http://schemas.microsoft.com/office/drawing/2014/main" val="20000"/>
                    </a:ext>
                  </a:extLst>
                </a:gridCol>
                <a:gridCol w="602900">
                  <a:extLst>
                    <a:ext uri="{9D8B030D-6E8A-4147-A177-3AD203B41FA5}">
                      <a16:colId xmlns:a16="http://schemas.microsoft.com/office/drawing/2014/main" val="20001"/>
                    </a:ext>
                  </a:extLst>
                </a:gridCol>
                <a:gridCol w="1800900">
                  <a:extLst>
                    <a:ext uri="{9D8B030D-6E8A-4147-A177-3AD203B41FA5}">
                      <a16:colId xmlns:a16="http://schemas.microsoft.com/office/drawing/2014/main" val="20002"/>
                    </a:ext>
                  </a:extLst>
                </a:gridCol>
              </a:tblGrid>
              <a:tr h="147950">
                <a:tc>
                  <a:txBody>
                    <a:bodyPr/>
                    <a:lstStyle/>
                    <a:p>
                      <a:pPr marL="0" marR="0" lvl="0" indent="0" algn="l" rtl="0">
                        <a:lnSpc>
                          <a:spcPct val="100000"/>
                        </a:lnSpc>
                        <a:spcBef>
                          <a:spcPts val="0"/>
                        </a:spcBef>
                        <a:spcAft>
                          <a:spcPts val="0"/>
                        </a:spcAft>
                        <a:buNone/>
                      </a:pPr>
                      <a:r>
                        <a:rPr lang="en-US" sz="700" b="1" dirty="0">
                          <a:solidFill>
                            <a:srgbClr val="FFFFFF"/>
                          </a:solidFill>
                          <a:latin typeface="Tahoma"/>
                          <a:ea typeface="Tahoma"/>
                          <a:cs typeface="Tahoma"/>
                          <a:sym typeface="Tahoma"/>
                        </a:rPr>
                        <a:t> </a:t>
                      </a:r>
                      <a:r>
                        <a:rPr lang="en-US" sz="700" b="1" u="none" strike="noStrike" cap="none" dirty="0">
                          <a:solidFill>
                            <a:srgbClr val="FFFFFF"/>
                          </a:solidFill>
                          <a:latin typeface="Tahoma"/>
                          <a:ea typeface="Tahoma"/>
                          <a:cs typeface="Tahoma"/>
                          <a:sym typeface="Tahoma"/>
                        </a:rPr>
                        <a:t>Member</a:t>
                      </a:r>
                      <a:endParaRPr sz="700" u="none" strike="noStrike" cap="none" dirty="0">
                        <a:latin typeface="Tahoma"/>
                        <a:ea typeface="Tahoma"/>
                        <a:cs typeface="Tahoma"/>
                        <a:sym typeface="Tahoma"/>
                      </a:endParaRPr>
                    </a:p>
                  </a:txBody>
                  <a:tcPr marL="0" marR="0" marT="66675" marB="0">
                    <a:solidFill>
                      <a:srgbClr val="1F3764"/>
                    </a:solidFill>
                  </a:tcPr>
                </a:tc>
                <a:tc>
                  <a:txBody>
                    <a:bodyPr/>
                    <a:lstStyle/>
                    <a:p>
                      <a:pPr marL="0" marR="0" lvl="0" indent="0" algn="l" rtl="0">
                        <a:lnSpc>
                          <a:spcPct val="100000"/>
                        </a:lnSpc>
                        <a:spcBef>
                          <a:spcPts val="0"/>
                        </a:spcBef>
                        <a:spcAft>
                          <a:spcPts val="0"/>
                        </a:spcAft>
                        <a:buNone/>
                      </a:pPr>
                      <a:r>
                        <a:rPr lang="en-US" sz="700" b="1">
                          <a:solidFill>
                            <a:srgbClr val="FFFFFF"/>
                          </a:solidFill>
                          <a:latin typeface="Tahoma"/>
                          <a:ea typeface="Tahoma"/>
                          <a:cs typeface="Tahoma"/>
                          <a:sym typeface="Tahoma"/>
                        </a:rPr>
                        <a:t>               </a:t>
                      </a:r>
                      <a:r>
                        <a:rPr lang="en-US" sz="700" b="1" u="none" strike="noStrike" cap="none">
                          <a:solidFill>
                            <a:srgbClr val="FFFFFF"/>
                          </a:solidFill>
                          <a:latin typeface="Tahoma"/>
                          <a:ea typeface="Tahoma"/>
                          <a:cs typeface="Tahoma"/>
                          <a:sym typeface="Tahoma"/>
                        </a:rPr>
                        <a:t>Role</a:t>
                      </a:r>
                      <a:endParaRPr sz="700" u="none" strike="noStrike" cap="none">
                        <a:latin typeface="Tahoma"/>
                        <a:ea typeface="Tahoma"/>
                        <a:cs typeface="Tahoma"/>
                        <a:sym typeface="Tahoma"/>
                      </a:endParaRPr>
                    </a:p>
                  </a:txBody>
                  <a:tcPr marL="0" marR="0" marT="66675" marB="0">
                    <a:solidFill>
                      <a:srgbClr val="1F3764"/>
                    </a:solidFill>
                  </a:tcPr>
                </a:tc>
                <a:tc>
                  <a:txBody>
                    <a:bodyPr/>
                    <a:lstStyle/>
                    <a:p>
                      <a:pPr marL="0" marR="0" lvl="0" indent="0" algn="l" rtl="0">
                        <a:lnSpc>
                          <a:spcPct val="100000"/>
                        </a:lnSpc>
                        <a:spcBef>
                          <a:spcPts val="0"/>
                        </a:spcBef>
                        <a:spcAft>
                          <a:spcPts val="0"/>
                        </a:spcAft>
                        <a:buNone/>
                      </a:pPr>
                      <a:r>
                        <a:rPr lang="en-US" sz="700" b="1" dirty="0">
                          <a:solidFill>
                            <a:srgbClr val="FFFFFF"/>
                          </a:solidFill>
                          <a:latin typeface="Tahoma"/>
                          <a:ea typeface="Tahoma"/>
                          <a:cs typeface="Tahoma"/>
                          <a:sym typeface="Tahoma"/>
                        </a:rPr>
                        <a:t>               </a:t>
                      </a:r>
                      <a:r>
                        <a:rPr lang="en-US" sz="700" b="1" u="none" strike="noStrike" cap="none" dirty="0">
                          <a:solidFill>
                            <a:srgbClr val="FFFFFF"/>
                          </a:solidFill>
                          <a:latin typeface="Tahoma"/>
                          <a:ea typeface="Tahoma"/>
                          <a:cs typeface="Tahoma"/>
                          <a:sym typeface="Tahoma"/>
                        </a:rPr>
                        <a:t>Contribution</a:t>
                      </a:r>
                      <a:endParaRPr sz="700" u="none" strike="noStrike" cap="none" dirty="0">
                        <a:latin typeface="Tahoma"/>
                        <a:ea typeface="Tahoma"/>
                        <a:cs typeface="Tahoma"/>
                        <a:sym typeface="Tahoma"/>
                      </a:endParaRPr>
                    </a:p>
                  </a:txBody>
                  <a:tcPr marL="0" marR="0" marT="66675" marB="0">
                    <a:solidFill>
                      <a:srgbClr val="1F3764"/>
                    </a:solidFill>
                  </a:tcPr>
                </a:tc>
                <a:extLst>
                  <a:ext uri="{0D108BD9-81ED-4DB2-BD59-A6C34878D82A}">
                    <a16:rowId xmlns:a16="http://schemas.microsoft.com/office/drawing/2014/main" val="10000"/>
                  </a:ext>
                </a:extLst>
              </a:tr>
            </a:tbl>
          </a:graphicData>
        </a:graphic>
      </p:graphicFrame>
      <p:graphicFrame>
        <p:nvGraphicFramePr>
          <p:cNvPr id="273" name="Google Shape;273;p15"/>
          <p:cNvGraphicFramePr/>
          <p:nvPr>
            <p:extLst>
              <p:ext uri="{D42A27DB-BD31-4B8C-83A1-F6EECF244321}">
                <p14:modId xmlns:p14="http://schemas.microsoft.com/office/powerpoint/2010/main" val="3612096969"/>
              </p:ext>
            </p:extLst>
          </p:nvPr>
        </p:nvGraphicFramePr>
        <p:xfrm>
          <a:off x="2566550" y="1281375"/>
          <a:ext cx="3020025" cy="981155"/>
        </p:xfrm>
        <a:graphic>
          <a:graphicData uri="http://schemas.openxmlformats.org/drawingml/2006/table">
            <a:tbl>
              <a:tblPr>
                <a:noFill/>
                <a:tableStyleId>{3CA4686C-9A57-4FCD-90C7-20B7E37845EC}</a:tableStyleId>
              </a:tblPr>
              <a:tblGrid>
                <a:gridCol w="994525">
                  <a:extLst>
                    <a:ext uri="{9D8B030D-6E8A-4147-A177-3AD203B41FA5}">
                      <a16:colId xmlns:a16="http://schemas.microsoft.com/office/drawing/2014/main" val="20000"/>
                    </a:ext>
                  </a:extLst>
                </a:gridCol>
                <a:gridCol w="591375">
                  <a:extLst>
                    <a:ext uri="{9D8B030D-6E8A-4147-A177-3AD203B41FA5}">
                      <a16:colId xmlns:a16="http://schemas.microsoft.com/office/drawing/2014/main" val="20001"/>
                    </a:ext>
                  </a:extLst>
                </a:gridCol>
                <a:gridCol w="1434125">
                  <a:extLst>
                    <a:ext uri="{9D8B030D-6E8A-4147-A177-3AD203B41FA5}">
                      <a16:colId xmlns:a16="http://schemas.microsoft.com/office/drawing/2014/main" val="20002"/>
                    </a:ext>
                  </a:extLst>
                </a:gridCol>
              </a:tblGrid>
              <a:tr h="223425">
                <a:tc>
                  <a:txBody>
                    <a:bodyPr/>
                    <a:lstStyle/>
                    <a:p>
                      <a:pPr marL="4507" marR="1802" lvl="0" indent="0" algn="l" rtl="0">
                        <a:lnSpc>
                          <a:spcPct val="147900"/>
                        </a:lnSpc>
                        <a:spcBef>
                          <a:spcPts val="0"/>
                        </a:spcBef>
                        <a:spcAft>
                          <a:spcPts val="0"/>
                        </a:spcAft>
                        <a:buClr>
                          <a:schemeClr val="dk1"/>
                        </a:buClr>
                        <a:buFont typeface="Arial"/>
                        <a:buNone/>
                      </a:pPr>
                      <a:r>
                        <a:rPr lang="en-US" sz="600" dirty="0">
                          <a:solidFill>
                            <a:srgbClr val="2A3345"/>
                          </a:solidFill>
                          <a:latin typeface="Tahoma"/>
                          <a:ea typeface="Tahoma"/>
                          <a:cs typeface="Tahoma"/>
                          <a:sym typeface="Tahoma"/>
                        </a:rPr>
                        <a:t>Simran </a:t>
                      </a:r>
                      <a:r>
                        <a:rPr lang="en-US" sz="600" dirty="0" err="1">
                          <a:solidFill>
                            <a:srgbClr val="2A3345"/>
                          </a:solidFill>
                          <a:latin typeface="Tahoma"/>
                          <a:ea typeface="Tahoma"/>
                          <a:cs typeface="Tahoma"/>
                          <a:sym typeface="Tahoma"/>
                        </a:rPr>
                        <a:t>chauhan</a:t>
                      </a:r>
                      <a:endParaRPr sz="700" dirty="0"/>
                    </a:p>
                  </a:txBody>
                  <a:tcPr marL="91425" marR="91425" marT="91425" marB="91425"/>
                </a:tc>
                <a:tc>
                  <a:txBody>
                    <a:bodyPr/>
                    <a:lstStyle/>
                    <a:p>
                      <a:pPr marL="0" lvl="0" indent="0" algn="l" rtl="0">
                        <a:spcBef>
                          <a:spcPts val="0"/>
                        </a:spcBef>
                        <a:spcAft>
                          <a:spcPts val="0"/>
                        </a:spcAft>
                        <a:buNone/>
                      </a:pPr>
                      <a:r>
                        <a:rPr lang="en-US" sz="600"/>
                        <a:t>Team Lead </a:t>
                      </a:r>
                      <a:endParaRPr sz="600"/>
                    </a:p>
                  </a:txBody>
                  <a:tcPr marL="91425" marR="91425" marT="91425" marB="91425"/>
                </a:tc>
                <a:tc>
                  <a:txBody>
                    <a:bodyPr/>
                    <a:lstStyle/>
                    <a:p>
                      <a:pPr marL="0" lvl="0" indent="0" algn="l" rtl="0">
                        <a:spcBef>
                          <a:spcPts val="0"/>
                        </a:spcBef>
                        <a:spcAft>
                          <a:spcPts val="0"/>
                        </a:spcAft>
                        <a:buNone/>
                      </a:pPr>
                      <a:r>
                        <a:rPr lang="en-IN" sz="450" dirty="0"/>
                        <a:t>Backend  and Database (</a:t>
                      </a:r>
                      <a:r>
                        <a:rPr lang="en-IN" sz="450" dirty="0" err="1"/>
                        <a:t>mysql</a:t>
                      </a:r>
                      <a:r>
                        <a:rPr lang="en-IN" sz="450" dirty="0"/>
                        <a:t>)</a:t>
                      </a:r>
                      <a:endParaRPr sz="450" dirty="0"/>
                    </a:p>
                  </a:txBody>
                  <a:tcPr marL="91425" marR="91425" marT="91425" marB="91425"/>
                </a:tc>
                <a:extLst>
                  <a:ext uri="{0D108BD9-81ED-4DB2-BD59-A6C34878D82A}">
                    <a16:rowId xmlns:a16="http://schemas.microsoft.com/office/drawing/2014/main" val="10000"/>
                  </a:ext>
                </a:extLst>
              </a:tr>
              <a:tr h="298750">
                <a:tc>
                  <a:txBody>
                    <a:bodyPr/>
                    <a:lstStyle/>
                    <a:p>
                      <a:pPr marL="0" lvl="0" indent="0" algn="l" rtl="0">
                        <a:spcBef>
                          <a:spcPts val="0"/>
                        </a:spcBef>
                        <a:spcAft>
                          <a:spcPts val="0"/>
                        </a:spcAft>
                        <a:buNone/>
                      </a:pPr>
                      <a:r>
                        <a:rPr lang="en-US" sz="600" dirty="0" err="1"/>
                        <a:t>Astha</a:t>
                      </a:r>
                      <a:r>
                        <a:rPr lang="en-US" sz="600" dirty="0"/>
                        <a:t> Adhikari </a:t>
                      </a:r>
                      <a:endParaRPr sz="600" dirty="0"/>
                    </a:p>
                  </a:txBody>
                  <a:tcPr marL="91425" marR="91425" marT="91425" marB="91425"/>
                </a:tc>
                <a:tc>
                  <a:txBody>
                    <a:bodyPr/>
                    <a:lstStyle/>
                    <a:p>
                      <a:pPr marL="0" lvl="0" indent="0" algn="l" rtl="0">
                        <a:spcBef>
                          <a:spcPts val="0"/>
                        </a:spcBef>
                        <a:spcAft>
                          <a:spcPts val="0"/>
                        </a:spcAft>
                        <a:buNone/>
                      </a:pPr>
                      <a:r>
                        <a:rPr lang="en-US" sz="600"/>
                        <a:t>Tester </a:t>
                      </a:r>
                      <a:endParaRPr sz="600"/>
                    </a:p>
                  </a:txBody>
                  <a:tcPr marL="91425" marR="91425" marT="91425" marB="91425"/>
                </a:tc>
                <a:tc>
                  <a:txBody>
                    <a:bodyPr/>
                    <a:lstStyle/>
                    <a:p>
                      <a:pPr marL="0" lvl="0" indent="0" algn="l" rtl="0">
                        <a:spcBef>
                          <a:spcPts val="0"/>
                        </a:spcBef>
                        <a:spcAft>
                          <a:spcPts val="0"/>
                        </a:spcAft>
                        <a:buNone/>
                      </a:pPr>
                      <a:r>
                        <a:rPr lang="en-IN" sz="450" dirty="0"/>
                        <a:t>Frontend </a:t>
                      </a:r>
                      <a:endParaRPr sz="450"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600" dirty="0"/>
                        <a:t>Saanidhya Kunwar </a:t>
                      </a:r>
                      <a:endParaRPr sz="600" dirty="0"/>
                    </a:p>
                  </a:txBody>
                  <a:tcPr marL="91425" marR="91425" marT="91425" marB="91425"/>
                </a:tc>
                <a:tc>
                  <a:txBody>
                    <a:bodyPr/>
                    <a:lstStyle/>
                    <a:p>
                      <a:pPr marL="0" lvl="0" indent="0" algn="l" rtl="0">
                        <a:spcBef>
                          <a:spcPts val="0"/>
                        </a:spcBef>
                        <a:spcAft>
                          <a:spcPts val="0"/>
                        </a:spcAft>
                        <a:buNone/>
                      </a:pPr>
                      <a:r>
                        <a:rPr lang="en-US" sz="600"/>
                        <a:t>Developer </a:t>
                      </a:r>
                      <a:endParaRPr sz="600"/>
                    </a:p>
                  </a:txBody>
                  <a:tcPr marL="91425" marR="91425" marT="91425" marB="91425"/>
                </a:tc>
                <a:tc>
                  <a:txBody>
                    <a:bodyPr/>
                    <a:lstStyle/>
                    <a:p>
                      <a:pPr marL="0" lvl="0" indent="0" algn="l" rtl="0">
                        <a:spcBef>
                          <a:spcPts val="0"/>
                        </a:spcBef>
                        <a:spcAft>
                          <a:spcPts val="0"/>
                        </a:spcAft>
                        <a:buNone/>
                      </a:pPr>
                      <a:r>
                        <a:rPr lang="en-IN" sz="450" dirty="0"/>
                        <a:t>Backend </a:t>
                      </a:r>
                      <a:endParaRPr sz="450" dirty="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78" name="Google Shape;278;p16"/>
          <p:cNvGrpSpPr/>
          <p:nvPr/>
        </p:nvGrpSpPr>
        <p:grpSpPr>
          <a:xfrm>
            <a:off x="5399392" y="72605"/>
            <a:ext cx="223520" cy="223520"/>
            <a:chOff x="5399392" y="72605"/>
            <a:chExt cx="223520" cy="223520"/>
          </a:xfrm>
        </p:grpSpPr>
        <p:sp>
          <p:nvSpPr>
            <p:cNvPr id="279" name="Google Shape;279;p16"/>
            <p:cNvSpPr/>
            <p:nvPr/>
          </p:nvSpPr>
          <p:spPr>
            <a:xfrm>
              <a:off x="5399392" y="293281"/>
              <a:ext cx="223520" cy="0"/>
            </a:xfrm>
            <a:custGeom>
              <a:avLst/>
              <a:gdLst/>
              <a:ahLst/>
              <a:cxnLst/>
              <a:rect l="l" t="t" r="r" b="b"/>
              <a:pathLst>
                <a:path w="223520" h="120000" extrusionOk="0">
                  <a:moveTo>
                    <a:pt x="0" y="0"/>
                  </a:moveTo>
                  <a:lnTo>
                    <a:pt x="22318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0" name="Google Shape;280;p16"/>
            <p:cNvSpPr/>
            <p:nvPr/>
          </p:nvSpPr>
          <p:spPr>
            <a:xfrm>
              <a:off x="5620054" y="72605"/>
              <a:ext cx="0" cy="223520"/>
            </a:xfrm>
            <a:custGeom>
              <a:avLst/>
              <a:gdLst/>
              <a:ahLst/>
              <a:cxnLst/>
              <a:rect l="l" t="t" r="r" b="b"/>
              <a:pathLst>
                <a:path w="120000" h="223520" extrusionOk="0">
                  <a:moveTo>
                    <a:pt x="0" y="223202"/>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81" name="Google Shape;281;p16" descr="$PPTXTitle"/>
          <p:cNvSpPr txBox="1">
            <a:spLocks noGrp="1"/>
          </p:cNvSpPr>
          <p:nvPr>
            <p:ph type="title"/>
          </p:nvPr>
        </p:nvSpPr>
        <p:spPr>
          <a:xfrm>
            <a:off x="347300" y="195800"/>
            <a:ext cx="4489200" cy="23280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a:t>Roadmap, Expected Outcomes &amp; References</a:t>
            </a:r>
            <a:endParaRPr/>
          </a:p>
        </p:txBody>
      </p:sp>
      <p:sp>
        <p:nvSpPr>
          <p:cNvPr id="282" name="Google Shape;282;p16"/>
          <p:cNvSpPr/>
          <p:nvPr/>
        </p:nvSpPr>
        <p:spPr>
          <a:xfrm>
            <a:off x="347294" y="758679"/>
            <a:ext cx="5039995" cy="0"/>
          </a:xfrm>
          <a:custGeom>
            <a:avLst/>
            <a:gdLst/>
            <a:ahLst/>
            <a:cxnLst/>
            <a:rect l="l" t="t" r="r" b="b"/>
            <a:pathLst>
              <a:path w="5039995" h="120000" extrusionOk="0">
                <a:moveTo>
                  <a:pt x="0" y="0"/>
                </a:moveTo>
                <a:lnTo>
                  <a:pt x="5039995" y="0"/>
                </a:lnTo>
              </a:path>
            </a:pathLst>
          </a:custGeom>
          <a:noFill/>
          <a:ln w="11375" cap="flat" cmpd="sng">
            <a:solidFill>
              <a:srgbClr val="1337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5" name="Google Shape;285;p16"/>
          <p:cNvPicPr preferRelativeResize="0"/>
          <p:nvPr/>
        </p:nvPicPr>
        <p:blipFill rotWithShape="1">
          <a:blip r:embed="rId3">
            <a:alphaModFix/>
          </a:blip>
          <a:srcRect/>
          <a:stretch/>
        </p:blipFill>
        <p:spPr>
          <a:xfrm>
            <a:off x="5396535" y="72605"/>
            <a:ext cx="223519" cy="223519"/>
          </a:xfrm>
          <a:prstGeom prst="rect">
            <a:avLst/>
          </a:prstGeom>
          <a:noFill/>
          <a:ln>
            <a:noFill/>
          </a:ln>
        </p:spPr>
      </p:pic>
      <p:sp>
        <p:nvSpPr>
          <p:cNvPr id="286" name="Google Shape;286;p16"/>
          <p:cNvSpPr txBox="1"/>
          <p:nvPr/>
        </p:nvSpPr>
        <p:spPr>
          <a:xfrm>
            <a:off x="1190173" y="1081689"/>
            <a:ext cx="356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16"/>
          <p:cNvSpPr/>
          <p:nvPr/>
        </p:nvSpPr>
        <p:spPr>
          <a:xfrm>
            <a:off x="349563" y="863683"/>
            <a:ext cx="5035487" cy="531924"/>
          </a:xfrm>
          <a:custGeom>
            <a:avLst/>
            <a:gdLst/>
            <a:ahLst/>
            <a:cxnLst/>
            <a:rect l="l" t="t" r="r" b="b"/>
            <a:pathLst>
              <a:path w="11315700" h="971550" extrusionOk="0">
                <a:moveTo>
                  <a:pt x="11208903" y="971545"/>
                </a:moveTo>
                <a:lnTo>
                  <a:pt x="106794" y="971545"/>
                </a:lnTo>
                <a:lnTo>
                  <a:pt x="99362" y="970810"/>
                </a:lnTo>
                <a:lnTo>
                  <a:pt x="57038" y="956448"/>
                </a:lnTo>
                <a:lnTo>
                  <a:pt x="23432" y="926985"/>
                </a:lnTo>
                <a:lnTo>
                  <a:pt x="3660" y="886904"/>
                </a:lnTo>
                <a:lnTo>
                  <a:pt x="0" y="864751"/>
                </a:lnTo>
                <a:lnTo>
                  <a:pt x="0" y="857249"/>
                </a:lnTo>
                <a:lnTo>
                  <a:pt x="0" y="106788"/>
                </a:lnTo>
                <a:lnTo>
                  <a:pt x="11572" y="63614"/>
                </a:lnTo>
                <a:lnTo>
                  <a:pt x="38784" y="28160"/>
                </a:lnTo>
                <a:lnTo>
                  <a:pt x="77493" y="5827"/>
                </a:lnTo>
                <a:lnTo>
                  <a:pt x="106794" y="0"/>
                </a:lnTo>
                <a:lnTo>
                  <a:pt x="11208903" y="0"/>
                </a:lnTo>
                <a:lnTo>
                  <a:pt x="11252072" y="11562"/>
                </a:lnTo>
                <a:lnTo>
                  <a:pt x="11287527" y="38774"/>
                </a:lnTo>
                <a:lnTo>
                  <a:pt x="11309870" y="77483"/>
                </a:lnTo>
                <a:lnTo>
                  <a:pt x="11315699" y="106788"/>
                </a:lnTo>
                <a:lnTo>
                  <a:pt x="11315699" y="864751"/>
                </a:lnTo>
                <a:lnTo>
                  <a:pt x="11304125" y="907916"/>
                </a:lnTo>
                <a:lnTo>
                  <a:pt x="11276913" y="943370"/>
                </a:lnTo>
                <a:lnTo>
                  <a:pt x="11238205" y="965708"/>
                </a:lnTo>
                <a:lnTo>
                  <a:pt x="11216336" y="970810"/>
                </a:lnTo>
                <a:lnTo>
                  <a:pt x="11208903" y="9715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88" name="Google Shape;288;p16"/>
          <p:cNvSpPr txBox="1"/>
          <p:nvPr/>
        </p:nvSpPr>
        <p:spPr>
          <a:xfrm>
            <a:off x="422548" y="911082"/>
            <a:ext cx="696000" cy="134100"/>
          </a:xfrm>
          <a:prstGeom prst="rect">
            <a:avLst/>
          </a:prstGeom>
          <a:noFill/>
          <a:ln>
            <a:noFill/>
          </a:ln>
        </p:spPr>
        <p:txBody>
          <a:bodyPr spcFirstLastPara="1" wrap="square" lIns="0" tIns="10775" rIns="0" bIns="0" anchor="t" anchorCtr="0">
            <a:spAutoFit/>
          </a:bodyPr>
          <a:lstStyle/>
          <a:p>
            <a:pPr marL="7997" lvl="0" indent="0" algn="l" rtl="0">
              <a:lnSpc>
                <a:spcPct val="100000"/>
              </a:lnSpc>
              <a:spcBef>
                <a:spcPts val="0"/>
              </a:spcBef>
              <a:spcAft>
                <a:spcPts val="0"/>
              </a:spcAft>
              <a:buNone/>
            </a:pPr>
            <a:r>
              <a:rPr lang="en-US" sz="800" b="1">
                <a:solidFill>
                  <a:srgbClr val="1F3764"/>
                </a:solidFill>
                <a:latin typeface="Tahoma"/>
                <a:ea typeface="Tahoma"/>
                <a:cs typeface="Tahoma"/>
                <a:sym typeface="Tahoma"/>
              </a:rPr>
              <a:t>ROADMAP</a:t>
            </a:r>
            <a:endParaRPr sz="800">
              <a:latin typeface="Tahoma"/>
              <a:ea typeface="Tahoma"/>
              <a:cs typeface="Tahoma"/>
              <a:sym typeface="Tahoma"/>
            </a:endParaRPr>
          </a:p>
        </p:txBody>
      </p:sp>
      <p:grpSp>
        <p:nvGrpSpPr>
          <p:cNvPr id="289" name="Google Shape;289;p16"/>
          <p:cNvGrpSpPr/>
          <p:nvPr/>
        </p:nvGrpSpPr>
        <p:grpSpPr>
          <a:xfrm>
            <a:off x="1416608" y="983977"/>
            <a:ext cx="695916" cy="291322"/>
            <a:chOff x="2833686" y="1300160"/>
            <a:chExt cx="1562100" cy="476250"/>
          </a:xfrm>
        </p:grpSpPr>
        <p:sp>
          <p:nvSpPr>
            <p:cNvPr id="290" name="Google Shape;290;p16"/>
            <p:cNvSpPr/>
            <p:nvPr/>
          </p:nvSpPr>
          <p:spPr>
            <a:xfrm>
              <a:off x="2833686" y="1300160"/>
              <a:ext cx="1562100" cy="476250"/>
            </a:xfrm>
            <a:custGeom>
              <a:avLst/>
              <a:gdLst/>
              <a:ahLst/>
              <a:cxnLst/>
              <a:rect l="l" t="t" r="r" b="b"/>
              <a:pathLst>
                <a:path w="1562100" h="476250" extrusionOk="0">
                  <a:moveTo>
                    <a:pt x="1495353" y="476245"/>
                  </a:moveTo>
                  <a:lnTo>
                    <a:pt x="66747" y="476245"/>
                  </a:lnTo>
                  <a:lnTo>
                    <a:pt x="62101" y="475785"/>
                  </a:lnTo>
                  <a:lnTo>
                    <a:pt x="24240" y="458642"/>
                  </a:lnTo>
                  <a:lnTo>
                    <a:pt x="2287" y="423346"/>
                  </a:lnTo>
                  <a:lnTo>
                    <a:pt x="0" y="409500"/>
                  </a:lnTo>
                  <a:lnTo>
                    <a:pt x="0" y="404812"/>
                  </a:lnTo>
                  <a:lnTo>
                    <a:pt x="0" y="66744"/>
                  </a:lnTo>
                  <a:lnTo>
                    <a:pt x="14645" y="27840"/>
                  </a:lnTo>
                  <a:lnTo>
                    <a:pt x="48433" y="3641"/>
                  </a:lnTo>
                  <a:lnTo>
                    <a:pt x="66747" y="0"/>
                  </a:lnTo>
                  <a:lnTo>
                    <a:pt x="1495353" y="0"/>
                  </a:lnTo>
                  <a:lnTo>
                    <a:pt x="1534250" y="14636"/>
                  </a:lnTo>
                  <a:lnTo>
                    <a:pt x="1558456" y="48425"/>
                  </a:lnTo>
                  <a:lnTo>
                    <a:pt x="1562099" y="66744"/>
                  </a:lnTo>
                  <a:lnTo>
                    <a:pt x="1562099" y="409500"/>
                  </a:lnTo>
                  <a:lnTo>
                    <a:pt x="1547454" y="448396"/>
                  </a:lnTo>
                  <a:lnTo>
                    <a:pt x="1513666" y="472599"/>
                  </a:lnTo>
                  <a:lnTo>
                    <a:pt x="1499998" y="475789"/>
                  </a:lnTo>
                  <a:lnTo>
                    <a:pt x="1495353" y="476245"/>
                  </a:lnTo>
                  <a:close/>
                </a:path>
              </a:pathLst>
            </a:custGeom>
            <a:solidFill>
              <a:srgbClr val="1F3764"/>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91" name="Google Shape;291;p16"/>
            <p:cNvSpPr/>
            <p:nvPr/>
          </p:nvSpPr>
          <p:spPr>
            <a:xfrm>
              <a:off x="2833686" y="1300160"/>
              <a:ext cx="1562100" cy="476250"/>
            </a:xfrm>
            <a:custGeom>
              <a:avLst/>
              <a:gdLst/>
              <a:ahLst/>
              <a:cxnLst/>
              <a:rect l="l" t="t" r="r" b="b"/>
              <a:pathLst>
                <a:path w="1562100" h="476250" extrusionOk="0">
                  <a:moveTo>
                    <a:pt x="0" y="404812"/>
                  </a:moveTo>
                  <a:lnTo>
                    <a:pt x="0" y="71437"/>
                  </a:lnTo>
                  <a:lnTo>
                    <a:pt x="0" y="66744"/>
                  </a:lnTo>
                  <a:lnTo>
                    <a:pt x="457" y="62093"/>
                  </a:lnTo>
                  <a:lnTo>
                    <a:pt x="17606" y="24235"/>
                  </a:lnTo>
                  <a:lnTo>
                    <a:pt x="20923" y="20919"/>
                  </a:lnTo>
                  <a:lnTo>
                    <a:pt x="24240" y="17603"/>
                  </a:lnTo>
                  <a:lnTo>
                    <a:pt x="44099" y="5432"/>
                  </a:lnTo>
                  <a:lnTo>
                    <a:pt x="48433" y="3641"/>
                  </a:lnTo>
                  <a:lnTo>
                    <a:pt x="52899" y="2287"/>
                  </a:lnTo>
                  <a:lnTo>
                    <a:pt x="57500" y="1371"/>
                  </a:lnTo>
                  <a:lnTo>
                    <a:pt x="62101" y="456"/>
                  </a:lnTo>
                  <a:lnTo>
                    <a:pt x="66747" y="0"/>
                  </a:lnTo>
                  <a:lnTo>
                    <a:pt x="71437" y="0"/>
                  </a:lnTo>
                  <a:lnTo>
                    <a:pt x="1490662" y="0"/>
                  </a:lnTo>
                  <a:lnTo>
                    <a:pt x="1495353" y="0"/>
                  </a:lnTo>
                  <a:lnTo>
                    <a:pt x="1499998" y="456"/>
                  </a:lnTo>
                  <a:lnTo>
                    <a:pt x="1504598" y="1371"/>
                  </a:lnTo>
                  <a:lnTo>
                    <a:pt x="1509199" y="2287"/>
                  </a:lnTo>
                  <a:lnTo>
                    <a:pt x="1513666" y="3641"/>
                  </a:lnTo>
                  <a:lnTo>
                    <a:pt x="1517999" y="5432"/>
                  </a:lnTo>
                  <a:lnTo>
                    <a:pt x="1522333" y="7222"/>
                  </a:lnTo>
                  <a:lnTo>
                    <a:pt x="1541176" y="20919"/>
                  </a:lnTo>
                  <a:lnTo>
                    <a:pt x="1544493" y="24235"/>
                  </a:lnTo>
                  <a:lnTo>
                    <a:pt x="1560726" y="57493"/>
                  </a:lnTo>
                  <a:lnTo>
                    <a:pt x="1561642" y="62093"/>
                  </a:lnTo>
                  <a:lnTo>
                    <a:pt x="1562099" y="66744"/>
                  </a:lnTo>
                  <a:lnTo>
                    <a:pt x="1562100" y="71437"/>
                  </a:lnTo>
                  <a:lnTo>
                    <a:pt x="1562100" y="404812"/>
                  </a:lnTo>
                  <a:lnTo>
                    <a:pt x="1562099" y="409500"/>
                  </a:lnTo>
                  <a:lnTo>
                    <a:pt x="1561642" y="414142"/>
                  </a:lnTo>
                  <a:lnTo>
                    <a:pt x="1560726" y="418741"/>
                  </a:lnTo>
                  <a:lnTo>
                    <a:pt x="1559811" y="423341"/>
                  </a:lnTo>
                  <a:lnTo>
                    <a:pt x="1550060" y="444493"/>
                  </a:lnTo>
                  <a:lnTo>
                    <a:pt x="1547454" y="448396"/>
                  </a:lnTo>
                  <a:lnTo>
                    <a:pt x="1517999" y="470803"/>
                  </a:lnTo>
                  <a:lnTo>
                    <a:pt x="1513666" y="472599"/>
                  </a:lnTo>
                  <a:lnTo>
                    <a:pt x="1509199" y="473957"/>
                  </a:lnTo>
                  <a:lnTo>
                    <a:pt x="1504598" y="474873"/>
                  </a:lnTo>
                  <a:lnTo>
                    <a:pt x="1499998" y="475789"/>
                  </a:lnTo>
                  <a:lnTo>
                    <a:pt x="1495353" y="476245"/>
                  </a:lnTo>
                  <a:lnTo>
                    <a:pt x="1490662" y="476249"/>
                  </a:lnTo>
                  <a:lnTo>
                    <a:pt x="71437" y="476249"/>
                  </a:lnTo>
                  <a:lnTo>
                    <a:pt x="44099" y="470803"/>
                  </a:lnTo>
                  <a:lnTo>
                    <a:pt x="39765" y="469008"/>
                  </a:lnTo>
                  <a:lnTo>
                    <a:pt x="12039" y="444493"/>
                  </a:lnTo>
                  <a:lnTo>
                    <a:pt x="9433" y="440591"/>
                  </a:lnTo>
                  <a:lnTo>
                    <a:pt x="0" y="409500"/>
                  </a:lnTo>
                  <a:lnTo>
                    <a:pt x="0" y="404812"/>
                  </a:lnTo>
                  <a:close/>
                </a:path>
              </a:pathLst>
            </a:custGeom>
            <a:noFill/>
            <a:ln w="6000" cap="flat" cmpd="sng">
              <a:solidFill>
                <a:srgbClr val="1F376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292" name="Google Shape;292;p16"/>
          <p:cNvSpPr txBox="1"/>
          <p:nvPr/>
        </p:nvSpPr>
        <p:spPr>
          <a:xfrm>
            <a:off x="1472975" y="980607"/>
            <a:ext cx="5838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a:solidFill>
                  <a:srgbClr val="FFFFFF"/>
                </a:solidFill>
                <a:latin typeface="Tahoma"/>
                <a:ea typeface="Tahoma"/>
                <a:cs typeface="Tahoma"/>
                <a:sym typeface="Tahoma"/>
              </a:rPr>
              <a:t>Phase-I</a:t>
            </a:r>
            <a:endParaRPr sz="598">
              <a:latin typeface="Tahoma"/>
              <a:ea typeface="Tahoma"/>
              <a:cs typeface="Tahoma"/>
              <a:sym typeface="Tahoma"/>
            </a:endParaRPr>
          </a:p>
          <a:p>
            <a:pPr marL="0" lvl="0" indent="0" algn="ctr" rtl="0">
              <a:lnSpc>
                <a:spcPct val="100000"/>
              </a:lnSpc>
              <a:spcBef>
                <a:spcPts val="132"/>
              </a:spcBef>
              <a:spcAft>
                <a:spcPts val="0"/>
              </a:spcAft>
              <a:buNone/>
            </a:pPr>
            <a:r>
              <a:rPr lang="en-US" sz="504">
                <a:solidFill>
                  <a:srgbClr val="FFFFFF"/>
                </a:solidFill>
                <a:latin typeface="Tahoma"/>
                <a:ea typeface="Tahoma"/>
                <a:cs typeface="Tahoma"/>
                <a:sym typeface="Tahoma"/>
              </a:rPr>
              <a:t>Proposal &amp; Design (current)</a:t>
            </a:r>
            <a:endParaRPr sz="504">
              <a:latin typeface="Tahoma"/>
              <a:ea typeface="Tahoma"/>
              <a:cs typeface="Tahoma"/>
              <a:sym typeface="Tahoma"/>
            </a:endParaRPr>
          </a:p>
        </p:txBody>
      </p:sp>
      <p:sp>
        <p:nvSpPr>
          <p:cNvPr id="293" name="Google Shape;293;p16"/>
          <p:cNvSpPr txBox="1"/>
          <p:nvPr/>
        </p:nvSpPr>
        <p:spPr>
          <a:xfrm>
            <a:off x="2143020" y="1023877"/>
            <a:ext cx="75000" cy="116700"/>
          </a:xfrm>
          <a:prstGeom prst="rect">
            <a:avLst/>
          </a:prstGeom>
          <a:noFill/>
          <a:ln>
            <a:noFill/>
          </a:ln>
        </p:spPr>
        <p:txBody>
          <a:bodyPr spcFirstLastPara="1" wrap="square" lIns="0" tIns="10000" rIns="0" bIns="0" anchor="t" anchorCtr="0">
            <a:spAutoFit/>
          </a:bodyPr>
          <a:lstStyle/>
          <a:p>
            <a:pPr marL="7997" lvl="0" indent="0" algn="l" rtl="0">
              <a:lnSpc>
                <a:spcPct val="100000"/>
              </a:lnSpc>
              <a:spcBef>
                <a:spcPts val="0"/>
              </a:spcBef>
              <a:spcAft>
                <a:spcPts val="0"/>
              </a:spcAft>
              <a:buNone/>
            </a:pPr>
            <a:r>
              <a:rPr lang="en-US" sz="693" b="1">
                <a:solidFill>
                  <a:srgbClr val="1F3764"/>
                </a:solidFill>
                <a:latin typeface="Arial"/>
                <a:ea typeface="Arial"/>
                <a:cs typeface="Arial"/>
                <a:sym typeface="Arial"/>
              </a:rPr>
              <a:t>→</a:t>
            </a:r>
            <a:endParaRPr sz="693">
              <a:latin typeface="Arial"/>
              <a:ea typeface="Arial"/>
              <a:cs typeface="Arial"/>
              <a:sym typeface="Arial"/>
            </a:endParaRPr>
          </a:p>
        </p:txBody>
      </p:sp>
      <p:grpSp>
        <p:nvGrpSpPr>
          <p:cNvPr id="294" name="Google Shape;294;p16"/>
          <p:cNvGrpSpPr/>
          <p:nvPr/>
        </p:nvGrpSpPr>
        <p:grpSpPr>
          <a:xfrm>
            <a:off x="2248564" y="957148"/>
            <a:ext cx="840191" cy="318183"/>
            <a:chOff x="4700586" y="1300160"/>
            <a:chExt cx="1885950" cy="476250"/>
          </a:xfrm>
        </p:grpSpPr>
        <p:sp>
          <p:nvSpPr>
            <p:cNvPr id="295" name="Google Shape;295;p16"/>
            <p:cNvSpPr/>
            <p:nvPr/>
          </p:nvSpPr>
          <p:spPr>
            <a:xfrm>
              <a:off x="4700586" y="1300160"/>
              <a:ext cx="1885950" cy="476250"/>
            </a:xfrm>
            <a:custGeom>
              <a:avLst/>
              <a:gdLst/>
              <a:ahLst/>
              <a:cxnLst/>
              <a:rect l="l" t="t" r="r" b="b"/>
              <a:pathLst>
                <a:path w="1885950" h="476250" extrusionOk="0">
                  <a:moveTo>
                    <a:pt x="1819203" y="476245"/>
                  </a:moveTo>
                  <a:lnTo>
                    <a:pt x="66746" y="476245"/>
                  </a:lnTo>
                  <a:lnTo>
                    <a:pt x="62100" y="475785"/>
                  </a:lnTo>
                  <a:lnTo>
                    <a:pt x="24239" y="458642"/>
                  </a:lnTo>
                  <a:lnTo>
                    <a:pt x="2287" y="423346"/>
                  </a:lnTo>
                  <a:lnTo>
                    <a:pt x="0" y="409500"/>
                  </a:lnTo>
                  <a:lnTo>
                    <a:pt x="0" y="404812"/>
                  </a:lnTo>
                  <a:lnTo>
                    <a:pt x="0" y="66744"/>
                  </a:lnTo>
                  <a:lnTo>
                    <a:pt x="14644" y="27840"/>
                  </a:lnTo>
                  <a:lnTo>
                    <a:pt x="48432" y="3641"/>
                  </a:lnTo>
                  <a:lnTo>
                    <a:pt x="66746" y="0"/>
                  </a:lnTo>
                  <a:lnTo>
                    <a:pt x="1819203" y="0"/>
                  </a:lnTo>
                  <a:lnTo>
                    <a:pt x="1858100" y="14636"/>
                  </a:lnTo>
                  <a:lnTo>
                    <a:pt x="1882306" y="48425"/>
                  </a:lnTo>
                  <a:lnTo>
                    <a:pt x="1885950" y="66744"/>
                  </a:lnTo>
                  <a:lnTo>
                    <a:pt x="1885950" y="409500"/>
                  </a:lnTo>
                  <a:lnTo>
                    <a:pt x="1871304" y="448396"/>
                  </a:lnTo>
                  <a:lnTo>
                    <a:pt x="1837516" y="472599"/>
                  </a:lnTo>
                  <a:lnTo>
                    <a:pt x="1823848" y="475789"/>
                  </a:lnTo>
                  <a:lnTo>
                    <a:pt x="1819203" y="476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296" name="Google Shape;296;p16"/>
            <p:cNvSpPr/>
            <p:nvPr/>
          </p:nvSpPr>
          <p:spPr>
            <a:xfrm>
              <a:off x="4700586" y="1300160"/>
              <a:ext cx="1885950" cy="476250"/>
            </a:xfrm>
            <a:custGeom>
              <a:avLst/>
              <a:gdLst/>
              <a:ahLst/>
              <a:cxnLst/>
              <a:rect l="l" t="t" r="r" b="b"/>
              <a:pathLst>
                <a:path w="1885950" h="476250" extrusionOk="0">
                  <a:moveTo>
                    <a:pt x="0" y="404812"/>
                  </a:moveTo>
                  <a:lnTo>
                    <a:pt x="0" y="71437"/>
                  </a:lnTo>
                  <a:lnTo>
                    <a:pt x="0" y="66744"/>
                  </a:lnTo>
                  <a:lnTo>
                    <a:pt x="457" y="62093"/>
                  </a:lnTo>
                  <a:lnTo>
                    <a:pt x="17606" y="24235"/>
                  </a:lnTo>
                  <a:lnTo>
                    <a:pt x="20923" y="20919"/>
                  </a:lnTo>
                  <a:lnTo>
                    <a:pt x="24239" y="17603"/>
                  </a:lnTo>
                  <a:lnTo>
                    <a:pt x="27848" y="14640"/>
                  </a:lnTo>
                  <a:lnTo>
                    <a:pt x="31748" y="12031"/>
                  </a:lnTo>
                  <a:lnTo>
                    <a:pt x="35648" y="9423"/>
                  </a:lnTo>
                  <a:lnTo>
                    <a:pt x="39765" y="7222"/>
                  </a:lnTo>
                  <a:lnTo>
                    <a:pt x="44099" y="5432"/>
                  </a:lnTo>
                  <a:lnTo>
                    <a:pt x="48432" y="3641"/>
                  </a:lnTo>
                  <a:lnTo>
                    <a:pt x="52899" y="2287"/>
                  </a:lnTo>
                  <a:lnTo>
                    <a:pt x="57500" y="1371"/>
                  </a:lnTo>
                  <a:lnTo>
                    <a:pt x="62101" y="456"/>
                  </a:lnTo>
                  <a:lnTo>
                    <a:pt x="66746" y="0"/>
                  </a:lnTo>
                  <a:lnTo>
                    <a:pt x="71437" y="0"/>
                  </a:lnTo>
                  <a:lnTo>
                    <a:pt x="1814512" y="0"/>
                  </a:lnTo>
                  <a:lnTo>
                    <a:pt x="1819203" y="0"/>
                  </a:lnTo>
                  <a:lnTo>
                    <a:pt x="1823848" y="456"/>
                  </a:lnTo>
                  <a:lnTo>
                    <a:pt x="1861709" y="17603"/>
                  </a:lnTo>
                  <a:lnTo>
                    <a:pt x="1865026" y="20919"/>
                  </a:lnTo>
                  <a:lnTo>
                    <a:pt x="1868343" y="24235"/>
                  </a:lnTo>
                  <a:lnTo>
                    <a:pt x="1884576" y="57493"/>
                  </a:lnTo>
                  <a:lnTo>
                    <a:pt x="1885492" y="62093"/>
                  </a:lnTo>
                  <a:lnTo>
                    <a:pt x="1885950" y="66744"/>
                  </a:lnTo>
                  <a:lnTo>
                    <a:pt x="1885950" y="71437"/>
                  </a:lnTo>
                  <a:lnTo>
                    <a:pt x="1885950" y="404812"/>
                  </a:lnTo>
                  <a:lnTo>
                    <a:pt x="1885950" y="409500"/>
                  </a:lnTo>
                  <a:lnTo>
                    <a:pt x="1885492" y="414142"/>
                  </a:lnTo>
                  <a:lnTo>
                    <a:pt x="1884576" y="418741"/>
                  </a:lnTo>
                  <a:lnTo>
                    <a:pt x="1883661" y="423341"/>
                  </a:lnTo>
                  <a:lnTo>
                    <a:pt x="1873910" y="444493"/>
                  </a:lnTo>
                  <a:lnTo>
                    <a:pt x="1871304" y="448396"/>
                  </a:lnTo>
                  <a:lnTo>
                    <a:pt x="1837516" y="472599"/>
                  </a:lnTo>
                  <a:lnTo>
                    <a:pt x="1828448" y="474873"/>
                  </a:lnTo>
                  <a:lnTo>
                    <a:pt x="1823848" y="475789"/>
                  </a:lnTo>
                  <a:lnTo>
                    <a:pt x="1819203" y="476245"/>
                  </a:lnTo>
                  <a:lnTo>
                    <a:pt x="1814512" y="476249"/>
                  </a:lnTo>
                  <a:lnTo>
                    <a:pt x="71437" y="476249"/>
                  </a:lnTo>
                  <a:lnTo>
                    <a:pt x="44099" y="470803"/>
                  </a:lnTo>
                  <a:lnTo>
                    <a:pt x="39765" y="469008"/>
                  </a:lnTo>
                  <a:lnTo>
                    <a:pt x="12038" y="444493"/>
                  </a:lnTo>
                  <a:lnTo>
                    <a:pt x="9432" y="440591"/>
                  </a:lnTo>
                  <a:lnTo>
                    <a:pt x="1372" y="418746"/>
                  </a:lnTo>
                  <a:lnTo>
                    <a:pt x="457" y="414146"/>
                  </a:lnTo>
                  <a:lnTo>
                    <a:pt x="0" y="409500"/>
                  </a:lnTo>
                  <a:lnTo>
                    <a:pt x="0" y="404812"/>
                  </a:lnTo>
                  <a:close/>
                </a:path>
              </a:pathLst>
            </a:custGeom>
            <a:noFill/>
            <a:ln w="6000" cap="flat" cmpd="sng">
              <a:solidFill>
                <a:srgbClr val="9EBCE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297" name="Google Shape;297;p16"/>
          <p:cNvSpPr txBox="1"/>
          <p:nvPr/>
        </p:nvSpPr>
        <p:spPr>
          <a:xfrm>
            <a:off x="2304248" y="980617"/>
            <a:ext cx="7299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dirty="0">
                <a:solidFill>
                  <a:srgbClr val="1F3764"/>
                </a:solidFill>
                <a:latin typeface="Tahoma"/>
                <a:ea typeface="Tahoma"/>
                <a:cs typeface="Tahoma"/>
                <a:sym typeface="Tahoma"/>
              </a:rPr>
              <a:t>Phase-II</a:t>
            </a:r>
            <a:endParaRPr sz="598" dirty="0">
              <a:latin typeface="Tahoma"/>
              <a:ea typeface="Tahoma"/>
              <a:cs typeface="Tahoma"/>
              <a:sym typeface="Tahoma"/>
            </a:endParaRPr>
          </a:p>
          <a:p>
            <a:pPr marL="0" lvl="0" indent="0" algn="ctr" rtl="0">
              <a:lnSpc>
                <a:spcPct val="100000"/>
              </a:lnSpc>
              <a:spcBef>
                <a:spcPts val="132"/>
              </a:spcBef>
              <a:spcAft>
                <a:spcPts val="0"/>
              </a:spcAft>
              <a:buNone/>
            </a:pPr>
            <a:r>
              <a:rPr lang="en-US" sz="504" dirty="0">
                <a:solidFill>
                  <a:srgbClr val="2A3345"/>
                </a:solidFill>
                <a:latin typeface="Tahoma"/>
                <a:ea typeface="Tahoma"/>
                <a:cs typeface="Tahoma"/>
                <a:sym typeface="Tahoma"/>
              </a:rPr>
              <a:t>Development — </a:t>
            </a:r>
            <a:r>
              <a:rPr lang="en-US" sz="504" dirty="0" err="1">
                <a:solidFill>
                  <a:srgbClr val="2A3345"/>
                </a:solidFill>
                <a:latin typeface="Tahoma"/>
                <a:ea typeface="Tahoma"/>
                <a:cs typeface="Tahoma"/>
                <a:sym typeface="Tahoma"/>
              </a:rPr>
              <a:t>SkillMitra</a:t>
            </a:r>
            <a:r>
              <a:rPr lang="en-US" sz="504" dirty="0">
                <a:solidFill>
                  <a:srgbClr val="2A3345"/>
                </a:solidFill>
                <a:latin typeface="Tahoma"/>
                <a:ea typeface="Tahoma"/>
                <a:cs typeface="Tahoma"/>
                <a:sym typeface="Tahoma"/>
              </a:rPr>
              <a:t> in Java</a:t>
            </a:r>
            <a:endParaRPr sz="504" dirty="0">
              <a:latin typeface="Tahoma"/>
              <a:ea typeface="Tahoma"/>
              <a:cs typeface="Tahoma"/>
              <a:sym typeface="Tahoma"/>
            </a:endParaRPr>
          </a:p>
        </p:txBody>
      </p:sp>
      <p:sp>
        <p:nvSpPr>
          <p:cNvPr id="298" name="Google Shape;298;p16"/>
          <p:cNvSpPr txBox="1"/>
          <p:nvPr/>
        </p:nvSpPr>
        <p:spPr>
          <a:xfrm>
            <a:off x="3120401" y="1023877"/>
            <a:ext cx="75000" cy="116700"/>
          </a:xfrm>
          <a:prstGeom prst="rect">
            <a:avLst/>
          </a:prstGeom>
          <a:noFill/>
          <a:ln>
            <a:noFill/>
          </a:ln>
        </p:spPr>
        <p:txBody>
          <a:bodyPr spcFirstLastPara="1" wrap="square" lIns="0" tIns="10000" rIns="0" bIns="0" anchor="t" anchorCtr="0">
            <a:spAutoFit/>
          </a:bodyPr>
          <a:lstStyle/>
          <a:p>
            <a:pPr marL="7997" lvl="0" indent="0" algn="l" rtl="0">
              <a:lnSpc>
                <a:spcPct val="100000"/>
              </a:lnSpc>
              <a:spcBef>
                <a:spcPts val="0"/>
              </a:spcBef>
              <a:spcAft>
                <a:spcPts val="0"/>
              </a:spcAft>
              <a:buNone/>
            </a:pPr>
            <a:r>
              <a:rPr lang="en-US" sz="693" b="1">
                <a:solidFill>
                  <a:srgbClr val="1F3764"/>
                </a:solidFill>
                <a:latin typeface="Arial"/>
                <a:ea typeface="Arial"/>
                <a:cs typeface="Arial"/>
                <a:sym typeface="Arial"/>
              </a:rPr>
              <a:t>→</a:t>
            </a:r>
            <a:endParaRPr sz="693">
              <a:latin typeface="Arial"/>
              <a:ea typeface="Arial"/>
              <a:cs typeface="Arial"/>
              <a:sym typeface="Arial"/>
            </a:endParaRPr>
          </a:p>
        </p:txBody>
      </p:sp>
      <p:grpSp>
        <p:nvGrpSpPr>
          <p:cNvPr id="299" name="Google Shape;299;p16"/>
          <p:cNvGrpSpPr/>
          <p:nvPr/>
        </p:nvGrpSpPr>
        <p:grpSpPr>
          <a:xfrm>
            <a:off x="3224535" y="957148"/>
            <a:ext cx="1099037" cy="318183"/>
            <a:chOff x="6891336" y="1300160"/>
            <a:chExt cx="2466975" cy="476250"/>
          </a:xfrm>
        </p:grpSpPr>
        <p:sp>
          <p:nvSpPr>
            <p:cNvPr id="300" name="Google Shape;300;p16"/>
            <p:cNvSpPr/>
            <p:nvPr/>
          </p:nvSpPr>
          <p:spPr>
            <a:xfrm>
              <a:off x="6891336" y="1300160"/>
              <a:ext cx="2466975" cy="476250"/>
            </a:xfrm>
            <a:custGeom>
              <a:avLst/>
              <a:gdLst/>
              <a:ahLst/>
              <a:cxnLst/>
              <a:rect l="l" t="t" r="r" b="b"/>
              <a:pathLst>
                <a:path w="2466975" h="476250" extrusionOk="0">
                  <a:moveTo>
                    <a:pt x="2400227" y="476245"/>
                  </a:moveTo>
                  <a:lnTo>
                    <a:pt x="66746" y="476245"/>
                  </a:lnTo>
                  <a:lnTo>
                    <a:pt x="62100" y="475785"/>
                  </a:lnTo>
                  <a:lnTo>
                    <a:pt x="24239" y="458642"/>
                  </a:lnTo>
                  <a:lnTo>
                    <a:pt x="2287" y="423346"/>
                  </a:lnTo>
                  <a:lnTo>
                    <a:pt x="0" y="409500"/>
                  </a:lnTo>
                  <a:lnTo>
                    <a:pt x="0" y="404812"/>
                  </a:lnTo>
                  <a:lnTo>
                    <a:pt x="0" y="66744"/>
                  </a:lnTo>
                  <a:lnTo>
                    <a:pt x="14644" y="27840"/>
                  </a:lnTo>
                  <a:lnTo>
                    <a:pt x="48432" y="3641"/>
                  </a:lnTo>
                  <a:lnTo>
                    <a:pt x="66746" y="0"/>
                  </a:lnTo>
                  <a:lnTo>
                    <a:pt x="2400227" y="0"/>
                  </a:lnTo>
                  <a:lnTo>
                    <a:pt x="2439124" y="14636"/>
                  </a:lnTo>
                  <a:lnTo>
                    <a:pt x="2463331" y="48425"/>
                  </a:lnTo>
                  <a:lnTo>
                    <a:pt x="2466974" y="66744"/>
                  </a:lnTo>
                  <a:lnTo>
                    <a:pt x="2466974" y="409500"/>
                  </a:lnTo>
                  <a:lnTo>
                    <a:pt x="2452328" y="448396"/>
                  </a:lnTo>
                  <a:lnTo>
                    <a:pt x="2418539" y="472599"/>
                  </a:lnTo>
                  <a:lnTo>
                    <a:pt x="2404872" y="475789"/>
                  </a:lnTo>
                  <a:lnTo>
                    <a:pt x="2400227" y="476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301" name="Google Shape;301;p16"/>
            <p:cNvSpPr/>
            <p:nvPr/>
          </p:nvSpPr>
          <p:spPr>
            <a:xfrm>
              <a:off x="6891336" y="1300160"/>
              <a:ext cx="2466975" cy="476250"/>
            </a:xfrm>
            <a:custGeom>
              <a:avLst/>
              <a:gdLst/>
              <a:ahLst/>
              <a:cxnLst/>
              <a:rect l="l" t="t" r="r" b="b"/>
              <a:pathLst>
                <a:path w="2466975" h="476250" extrusionOk="0">
                  <a:moveTo>
                    <a:pt x="0" y="404812"/>
                  </a:moveTo>
                  <a:lnTo>
                    <a:pt x="0" y="71437"/>
                  </a:lnTo>
                  <a:lnTo>
                    <a:pt x="0" y="66744"/>
                  </a:lnTo>
                  <a:lnTo>
                    <a:pt x="457" y="62093"/>
                  </a:lnTo>
                  <a:lnTo>
                    <a:pt x="12039" y="31742"/>
                  </a:lnTo>
                  <a:lnTo>
                    <a:pt x="14644" y="27840"/>
                  </a:lnTo>
                  <a:lnTo>
                    <a:pt x="17605" y="24235"/>
                  </a:lnTo>
                  <a:lnTo>
                    <a:pt x="20923" y="20919"/>
                  </a:lnTo>
                  <a:lnTo>
                    <a:pt x="24239" y="17603"/>
                  </a:lnTo>
                  <a:lnTo>
                    <a:pt x="44099" y="5432"/>
                  </a:lnTo>
                  <a:lnTo>
                    <a:pt x="48432" y="3641"/>
                  </a:lnTo>
                  <a:lnTo>
                    <a:pt x="52899" y="2287"/>
                  </a:lnTo>
                  <a:lnTo>
                    <a:pt x="57500" y="1371"/>
                  </a:lnTo>
                  <a:lnTo>
                    <a:pt x="62100" y="456"/>
                  </a:lnTo>
                  <a:lnTo>
                    <a:pt x="66746" y="0"/>
                  </a:lnTo>
                  <a:lnTo>
                    <a:pt x="71437" y="0"/>
                  </a:lnTo>
                  <a:lnTo>
                    <a:pt x="2395537" y="0"/>
                  </a:lnTo>
                  <a:lnTo>
                    <a:pt x="2400227" y="0"/>
                  </a:lnTo>
                  <a:lnTo>
                    <a:pt x="2404873" y="456"/>
                  </a:lnTo>
                  <a:lnTo>
                    <a:pt x="2442733" y="17603"/>
                  </a:lnTo>
                  <a:lnTo>
                    <a:pt x="2446050" y="20919"/>
                  </a:lnTo>
                  <a:lnTo>
                    <a:pt x="2449367" y="24235"/>
                  </a:lnTo>
                  <a:lnTo>
                    <a:pt x="2465601" y="57493"/>
                  </a:lnTo>
                  <a:lnTo>
                    <a:pt x="2466517" y="62093"/>
                  </a:lnTo>
                  <a:lnTo>
                    <a:pt x="2466974" y="66744"/>
                  </a:lnTo>
                  <a:lnTo>
                    <a:pt x="2466974" y="71437"/>
                  </a:lnTo>
                  <a:lnTo>
                    <a:pt x="2466974" y="404812"/>
                  </a:lnTo>
                  <a:lnTo>
                    <a:pt x="2466974" y="409500"/>
                  </a:lnTo>
                  <a:lnTo>
                    <a:pt x="2466517" y="414142"/>
                  </a:lnTo>
                  <a:lnTo>
                    <a:pt x="2465601" y="418741"/>
                  </a:lnTo>
                  <a:lnTo>
                    <a:pt x="2464686" y="423341"/>
                  </a:lnTo>
                  <a:lnTo>
                    <a:pt x="2442733" y="458642"/>
                  </a:lnTo>
                  <a:lnTo>
                    <a:pt x="2409473" y="474873"/>
                  </a:lnTo>
                  <a:lnTo>
                    <a:pt x="2404872" y="475789"/>
                  </a:lnTo>
                  <a:lnTo>
                    <a:pt x="2400227" y="476245"/>
                  </a:lnTo>
                  <a:lnTo>
                    <a:pt x="2395537" y="476249"/>
                  </a:lnTo>
                  <a:lnTo>
                    <a:pt x="71437" y="476249"/>
                  </a:lnTo>
                  <a:lnTo>
                    <a:pt x="66746" y="476245"/>
                  </a:lnTo>
                  <a:lnTo>
                    <a:pt x="62100" y="475785"/>
                  </a:lnTo>
                  <a:lnTo>
                    <a:pt x="57500" y="474868"/>
                  </a:lnTo>
                  <a:lnTo>
                    <a:pt x="52899" y="473952"/>
                  </a:lnTo>
                  <a:lnTo>
                    <a:pt x="48432" y="472599"/>
                  </a:lnTo>
                  <a:lnTo>
                    <a:pt x="44099" y="470803"/>
                  </a:lnTo>
                  <a:lnTo>
                    <a:pt x="39764" y="469008"/>
                  </a:lnTo>
                  <a:lnTo>
                    <a:pt x="12038" y="444493"/>
                  </a:lnTo>
                  <a:lnTo>
                    <a:pt x="9432" y="440591"/>
                  </a:lnTo>
                  <a:lnTo>
                    <a:pt x="0" y="409500"/>
                  </a:lnTo>
                  <a:lnTo>
                    <a:pt x="0" y="404812"/>
                  </a:lnTo>
                  <a:close/>
                </a:path>
              </a:pathLst>
            </a:custGeom>
            <a:noFill/>
            <a:ln w="6000" cap="flat" cmpd="sng">
              <a:solidFill>
                <a:srgbClr val="9EBCE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882"/>
            </a:p>
          </p:txBody>
        </p:sp>
      </p:grpSp>
      <p:sp>
        <p:nvSpPr>
          <p:cNvPr id="302" name="Google Shape;302;p16"/>
          <p:cNvSpPr txBox="1"/>
          <p:nvPr/>
        </p:nvSpPr>
        <p:spPr>
          <a:xfrm>
            <a:off x="3281629" y="980617"/>
            <a:ext cx="985200" cy="291300"/>
          </a:xfrm>
          <a:prstGeom prst="rect">
            <a:avLst/>
          </a:prstGeom>
          <a:noFill/>
          <a:ln>
            <a:noFill/>
          </a:ln>
        </p:spPr>
        <p:txBody>
          <a:bodyPr spcFirstLastPara="1" wrap="square" lIns="0" tIns="26775" rIns="0" bIns="0" anchor="t" anchorCtr="0">
            <a:spAutoFit/>
          </a:bodyPr>
          <a:lstStyle/>
          <a:p>
            <a:pPr marL="0" lvl="0" indent="0" algn="ctr" rtl="0">
              <a:lnSpc>
                <a:spcPct val="100000"/>
              </a:lnSpc>
              <a:spcBef>
                <a:spcPts val="0"/>
              </a:spcBef>
              <a:spcAft>
                <a:spcPts val="0"/>
              </a:spcAft>
              <a:buNone/>
            </a:pPr>
            <a:r>
              <a:rPr lang="en-US" sz="598" b="1">
                <a:solidFill>
                  <a:srgbClr val="1F3764"/>
                </a:solidFill>
                <a:latin typeface="Tahoma"/>
                <a:ea typeface="Tahoma"/>
                <a:cs typeface="Tahoma"/>
                <a:sym typeface="Tahoma"/>
              </a:rPr>
              <a:t>Phase-III</a:t>
            </a:r>
            <a:endParaRPr sz="598">
              <a:latin typeface="Tahoma"/>
              <a:ea typeface="Tahoma"/>
              <a:cs typeface="Tahoma"/>
              <a:sym typeface="Tahoma"/>
            </a:endParaRPr>
          </a:p>
          <a:p>
            <a:pPr marL="0" lvl="0" indent="0" algn="ctr" rtl="0">
              <a:lnSpc>
                <a:spcPct val="100000"/>
              </a:lnSpc>
              <a:spcBef>
                <a:spcPts val="132"/>
              </a:spcBef>
              <a:spcAft>
                <a:spcPts val="0"/>
              </a:spcAft>
              <a:buNone/>
            </a:pPr>
            <a:r>
              <a:rPr lang="en-US" sz="504">
                <a:solidFill>
                  <a:srgbClr val="2A3345"/>
                </a:solidFill>
                <a:latin typeface="Tahoma"/>
                <a:ea typeface="Tahoma"/>
                <a:cs typeface="Tahoma"/>
                <a:sym typeface="Tahoma"/>
              </a:rPr>
              <a:t>Final Implementation, dashboards &amp; evaluation</a:t>
            </a:r>
            <a:endParaRPr sz="504">
              <a:latin typeface="Tahoma"/>
              <a:ea typeface="Tahoma"/>
              <a:cs typeface="Tahoma"/>
              <a:sym typeface="Tahoma"/>
            </a:endParaRPr>
          </a:p>
        </p:txBody>
      </p:sp>
      <p:sp>
        <p:nvSpPr>
          <p:cNvPr id="303" name="Google Shape;303;p16"/>
          <p:cNvSpPr/>
          <p:nvPr/>
        </p:nvSpPr>
        <p:spPr>
          <a:xfrm>
            <a:off x="347299" y="1554507"/>
            <a:ext cx="5049235" cy="1354946"/>
          </a:xfrm>
          <a:custGeom>
            <a:avLst/>
            <a:gdLst/>
            <a:ahLst/>
            <a:cxnLst/>
            <a:rect l="l" t="t" r="r" b="b"/>
            <a:pathLst>
              <a:path w="5572125" h="1619250" extrusionOk="0">
                <a:moveTo>
                  <a:pt x="5465329" y="1619245"/>
                </a:moveTo>
                <a:lnTo>
                  <a:pt x="106794" y="1619245"/>
                </a:lnTo>
                <a:lnTo>
                  <a:pt x="99362" y="1618510"/>
                </a:lnTo>
                <a:lnTo>
                  <a:pt x="57038" y="1604139"/>
                </a:lnTo>
                <a:lnTo>
                  <a:pt x="23432" y="1574675"/>
                </a:lnTo>
                <a:lnTo>
                  <a:pt x="3660" y="1534594"/>
                </a:lnTo>
                <a:lnTo>
                  <a:pt x="0" y="1512447"/>
                </a:lnTo>
                <a:lnTo>
                  <a:pt x="0" y="1504945"/>
                </a:lnTo>
                <a:lnTo>
                  <a:pt x="0" y="106788"/>
                </a:lnTo>
                <a:lnTo>
                  <a:pt x="11572" y="63614"/>
                </a:lnTo>
                <a:lnTo>
                  <a:pt x="38784" y="28165"/>
                </a:lnTo>
                <a:lnTo>
                  <a:pt x="77493" y="5822"/>
                </a:lnTo>
                <a:lnTo>
                  <a:pt x="106794" y="0"/>
                </a:lnTo>
                <a:lnTo>
                  <a:pt x="5465329" y="0"/>
                </a:lnTo>
                <a:lnTo>
                  <a:pt x="5508498" y="11566"/>
                </a:lnTo>
                <a:lnTo>
                  <a:pt x="5543953" y="38779"/>
                </a:lnTo>
                <a:lnTo>
                  <a:pt x="5566295" y="77483"/>
                </a:lnTo>
                <a:lnTo>
                  <a:pt x="5572124" y="106788"/>
                </a:lnTo>
                <a:lnTo>
                  <a:pt x="5572124" y="1512447"/>
                </a:lnTo>
                <a:lnTo>
                  <a:pt x="5560551" y="1555606"/>
                </a:lnTo>
                <a:lnTo>
                  <a:pt x="5533339" y="1591065"/>
                </a:lnTo>
                <a:lnTo>
                  <a:pt x="5494631" y="1613398"/>
                </a:lnTo>
                <a:lnTo>
                  <a:pt x="5472762" y="1618510"/>
                </a:lnTo>
                <a:lnTo>
                  <a:pt x="5465329" y="1619245"/>
                </a:lnTo>
                <a:close/>
              </a:path>
            </a:pathLst>
          </a:custGeom>
          <a:solidFill>
            <a:srgbClr val="E9F1FB"/>
          </a:solidFill>
          <a:ln>
            <a:noFill/>
          </a:ln>
        </p:spPr>
        <p:txBody>
          <a:bodyPr spcFirstLastPara="1" wrap="square" lIns="0" tIns="0" rIns="0" bIns="0" anchor="t" anchorCtr="0">
            <a:noAutofit/>
          </a:bodyPr>
          <a:lstStyle/>
          <a:p>
            <a:pPr marL="0" lvl="0" indent="0" algn="l" rtl="0">
              <a:spcBef>
                <a:spcPts val="0"/>
              </a:spcBef>
              <a:spcAft>
                <a:spcPts val="0"/>
              </a:spcAft>
              <a:buNone/>
            </a:pPr>
            <a:endParaRPr sz="882"/>
          </a:p>
        </p:txBody>
      </p:sp>
      <p:sp>
        <p:nvSpPr>
          <p:cNvPr id="304" name="Google Shape;304;p16"/>
          <p:cNvSpPr txBox="1"/>
          <p:nvPr/>
        </p:nvSpPr>
        <p:spPr>
          <a:xfrm>
            <a:off x="472098" y="1612007"/>
            <a:ext cx="1494300" cy="134100"/>
          </a:xfrm>
          <a:prstGeom prst="rect">
            <a:avLst/>
          </a:prstGeom>
          <a:noFill/>
          <a:ln>
            <a:noFill/>
          </a:ln>
        </p:spPr>
        <p:txBody>
          <a:bodyPr spcFirstLastPara="1" wrap="square" lIns="0" tIns="10775" rIns="0" bIns="0" anchor="t" anchorCtr="0">
            <a:spAutoFit/>
          </a:bodyPr>
          <a:lstStyle/>
          <a:p>
            <a:pPr marL="7997" lvl="0" indent="0" algn="l" rtl="0">
              <a:lnSpc>
                <a:spcPct val="100000"/>
              </a:lnSpc>
              <a:spcBef>
                <a:spcPts val="0"/>
              </a:spcBef>
              <a:spcAft>
                <a:spcPts val="0"/>
              </a:spcAft>
              <a:buNone/>
            </a:pPr>
            <a:r>
              <a:rPr lang="en-US" sz="800" b="1">
                <a:solidFill>
                  <a:srgbClr val="1F3764"/>
                </a:solidFill>
                <a:latin typeface="Tahoma"/>
                <a:ea typeface="Tahoma"/>
                <a:cs typeface="Tahoma"/>
                <a:sym typeface="Tahoma"/>
              </a:rPr>
              <a:t>EXPECTED OUTCOMES</a:t>
            </a:r>
            <a:endParaRPr sz="800">
              <a:latin typeface="Tahoma"/>
              <a:ea typeface="Tahoma"/>
              <a:cs typeface="Tahoma"/>
              <a:sym typeface="Tahoma"/>
            </a:endParaRPr>
          </a:p>
        </p:txBody>
      </p:sp>
      <p:sp>
        <p:nvSpPr>
          <p:cNvPr id="308" name="Google Shape;308;p16"/>
          <p:cNvSpPr txBox="1"/>
          <p:nvPr/>
        </p:nvSpPr>
        <p:spPr>
          <a:xfrm>
            <a:off x="624700" y="1746957"/>
            <a:ext cx="4591536" cy="1103070"/>
          </a:xfrm>
          <a:prstGeom prst="rect">
            <a:avLst/>
          </a:prstGeom>
          <a:noFill/>
          <a:ln>
            <a:noFill/>
          </a:ln>
        </p:spPr>
        <p:txBody>
          <a:bodyPr spcFirstLastPara="1" wrap="square" lIns="0" tIns="9600" rIns="0" bIns="0" anchor="t" anchorCtr="0">
            <a:spAutoFit/>
          </a:bodyPr>
          <a:lstStyle/>
          <a:p>
            <a:pPr marL="7997" marR="3199" lvl="0" indent="0" algn="just" rtl="0">
              <a:lnSpc>
                <a:spcPct val="147900"/>
              </a:lnSpc>
              <a:spcBef>
                <a:spcPts val="0"/>
              </a:spcBef>
              <a:spcAft>
                <a:spcPts val="0"/>
              </a:spcAft>
              <a:buNone/>
            </a:pPr>
            <a:r>
              <a:rPr lang="en-US" sz="800" dirty="0"/>
              <a:t>The project will deliver a fully functional, multi-role web platform that directly connects homeowners with verified local service providers. Powered by a Java Spring Boot backend, a MySQL database, and a responsive Bootstrap frontend, the system automates service discovery, skill-based search filtering, real-time job bookings, and authentic customer reviews. Final deliverables include production-ready source code, secure REST APIs, complete database ER schematics, API test suites, and full technical documentation.</a:t>
            </a:r>
            <a:endParaRPr sz="400" dirty="0">
              <a:latin typeface="Tahoma"/>
              <a:ea typeface="Tahoma"/>
              <a:cs typeface="Tahoma"/>
              <a:sym typeface="Tahoma"/>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A237D8-AE67-D9F8-38F3-057BDA2709A6}"/>
              </a:ext>
            </a:extLst>
          </p:cNvPr>
          <p:cNvSpPr txBox="1"/>
          <p:nvPr/>
        </p:nvSpPr>
        <p:spPr>
          <a:xfrm>
            <a:off x="2407766" y="1164826"/>
            <a:ext cx="1732305" cy="461665"/>
          </a:xfrm>
          <a:prstGeom prst="rect">
            <a:avLst/>
          </a:prstGeom>
          <a:noFill/>
        </p:spPr>
        <p:txBody>
          <a:bodyPr wrap="square" rtlCol="0">
            <a:spAutoFit/>
          </a:bodyPr>
          <a:lstStyle/>
          <a:p>
            <a:pPr algn="ctr"/>
            <a:r>
              <a:rPr lang="en-US" sz="2400" dirty="0">
                <a:solidFill>
                  <a:schemeClr val="bg2">
                    <a:lumMod val="75000"/>
                  </a:schemeClr>
                </a:solidFill>
              </a:rPr>
              <a:t>Thank you</a:t>
            </a:r>
            <a:endParaRPr lang="en-IN" sz="2400" dirty="0">
              <a:solidFill>
                <a:schemeClr val="bg2">
                  <a:lumMod val="75000"/>
                </a:schemeClr>
              </a:solidFill>
            </a:endParaRPr>
          </a:p>
        </p:txBody>
      </p:sp>
    </p:spTree>
    <p:extLst>
      <p:ext uri="{BB962C8B-B14F-4D97-AF65-F5344CB8AC3E}">
        <p14:creationId xmlns:p14="http://schemas.microsoft.com/office/powerpoint/2010/main" val="9252360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701</Words>
  <Application>Microsoft Office PowerPoint</Application>
  <PresentationFormat>Custom</PresentationFormat>
  <Paragraphs>103</Paragraphs>
  <Slides>11</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Tahoma</vt:lpstr>
      <vt:lpstr>Georgia</vt:lpstr>
      <vt:lpstr>Lucida Sans</vt:lpstr>
      <vt:lpstr>Quattrocento Sans</vt:lpstr>
      <vt:lpstr>Roboto</vt:lpstr>
      <vt:lpstr>Trebuchet MS</vt:lpstr>
      <vt:lpstr>Arial</vt:lpstr>
      <vt:lpstr>Times New Roman</vt:lpstr>
      <vt:lpstr>Calibri</vt:lpstr>
      <vt:lpstr>Office Theme</vt:lpstr>
      <vt:lpstr>PROJECT-BASED LEARNING</vt:lpstr>
      <vt:lpstr>Team &amp; Mentor Details</vt:lpstr>
      <vt:lpstr>Problem Statement &amp; Motivation</vt:lpstr>
      <vt:lpstr>Objectives</vt:lpstr>
      <vt:lpstr>Proposed Solution</vt:lpstr>
      <vt:lpstr>Integration of PBL Course Concepts</vt:lpstr>
      <vt:lpstr>System Architecture</vt:lpstr>
      <vt:lpstr>Technology Stack &amp; Methodology</vt:lpstr>
      <vt:lpstr>Initial Progress &amp; Team Contribution</vt:lpstr>
      <vt:lpstr>Roadmap, Expected Outcomes &amp;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PROJECT-BASED LEARNING</dc:title>
  <dc:creator>simran chauhan</dc:creator>
  <cp:lastModifiedBy>SIMRAN CHAUHAN</cp:lastModifiedBy>
  <cp:revision>12</cp:revision>
  <dcterms:modified xsi:type="dcterms:W3CDTF">2026-09-11T07:23:54Z</dcterms:modified>
</cp:coreProperties>
</file>